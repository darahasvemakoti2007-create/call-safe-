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15 seconds, a senior is targeted by a phone scammer. Traditional spam blockers check caller IDs, but scammers spoof numbers in seconds. We built GuardCall: the first real-time conversational scam shield that protects seniors while preserving 100% privacy.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Scammers no longer rely on simple phishing links. They call victims directly, impersonate law enforcement, and induce severe panic. The senior is trapped alone on the call, isolated from their loved ones, until their money is transferred.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Number-lookup apps only flag scammers after victims have already lost money. And recording phone calls to cloud servers creates massive privacy violations. We need a solution that analyzes conversational intent in real time without recording private audio.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GuardCall acts like an intelligent guardian sitting right beside the senior. It listens to conversational tactics—urgency, threats, OTP demands—and displays clear, easy-to-read interventions, allowing the elder to end the call or immediately escalate to their family.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pipeline feeds transient audio chunks through speech recognition directly into a multi-turn heuristic engine. When compounding threats like urgency and OTP requests occur in sequence, the risk score surges past threshold, instantly triggering intervention dialogues.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reliability, we built a deterministic Demo Center with 5 diverse scenarios. In the KYC demo, notice how caller urgency elevates the risk to 75, triggering the intervention dialog. And crucially, legitimate bank calls remain at 0/100, proving zero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is our core architectural pillar. Caregivers never hear the conversation or read personal transcripts. They receive only structured threat metadata: the risk score, the detected signals, and the action taken.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with Flutter for smooth cross-platform delivery and Supabase for secure cloud synchronization. Our engine is completely modular, and our entire pipeline is backed by 223 passing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engineered GuardCall with accessibility at the center, including native reduce-motion toggles. While we demonstrate this today with controlled audio inputs, our roadmap includes deploying lightweight on-device SLMs and partnering directly with telecom carriers.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GuardCall gives seniors the independence they deserve, and gives families peace of mind. Thank you, and we invite you to experience the live multi-turn simulation right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6858000" cy="493776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48640" rIns="548640"/>
          <a:lstStyle/>
          <a:p>
            <a:pPr algn="ctr">
              <a:spcAft>
                <a:spcPts val="1400"/>
              </a:spcAft>
              <a:defRPr sz="1100" b="1">
                <a:solidFill>
                  <a:srgbClr val="FFFFFF"/>
                </a:solidFill>
              </a:defRPr>
            </a:pPr>
            <a:r>
              <a:t>HACKATHON INNOVATION 2026</a:t>
            </a:r>
          </a:p>
          <a:p>
            <a:pPr>
              <a:spcAft>
                <a:spcPts val="600"/>
              </a:spcAft>
              <a:defRPr sz="4400" b="1">
                <a:solidFill>
                  <a:srgbClr val="FFFFFF"/>
                </a:solidFill>
              </a:defRPr>
            </a:pPr>
            <a:r>
              <a:t>GUARDCALL</a:t>
            </a:r>
          </a:p>
          <a:p>
            <a:pPr>
              <a:spcAft>
                <a:spcPts val="1800"/>
              </a:spcAft>
              <a:defRPr sz="2200" b="1">
                <a:solidFill>
                  <a:srgbClr val="FFFFFF"/>
                </a:solidFill>
              </a:defRPr>
            </a:pPr>
            <a:r>
              <a:t>AI-Powered Phone Scam Shield</a:t>
            </a:r>
          </a:p>
          <a:p>
            <a:pPr>
              <a:spcAft>
                <a:spcPts val="2000"/>
              </a:spcAft>
              <a:defRPr sz="1300">
                <a:solidFill>
                  <a:srgbClr val="FFFFFF"/>
                </a:solidFill>
              </a:defRPr>
            </a:pPr>
            <a:r>
              <a:t>Real-time conversational manipulation defense for vulnerable seniors — engineered with zero audio retention, zero transcript storage, and proactive family escalation.</a:t>
            </a:r>
          </a:p>
          <a:p>
            <a:pPr>
              <a:defRPr sz="1200" b="1">
                <a:solidFill>
                  <a:srgbClr val="F5F3EE"/>
                </a:solidFill>
              </a:defRPr>
            </a:pPr>
            <a:r>
              <a:t>✦ Zero-Audio Privacy  •  ✦ Behavioral Detection  •  ✦ 100% Offline Demo</a:t>
            </a:r>
          </a:p>
        </p:txBody>
      </p:sp>
      <p:sp>
        <p:nvSpPr>
          <p:cNvPr id="4" name="Rounded Rectangle 3"/>
          <p:cNvSpPr/>
          <p:nvPr/>
        </p:nvSpPr>
        <p:spPr>
          <a:xfrm>
            <a:off x="7863840" y="548640"/>
            <a:ext cx="3657600" cy="4937760"/>
          </a:xfrm>
          <a:prstGeom prst="roundRect">
            <a:avLst/>
          </a:prstGeom>
          <a:solidFill>
            <a:srgbClr val="F5F3EE"/>
          </a:solidFill>
          <a:ln w="1905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ep19_home_ready.png"/>
          <p:cNvPicPr>
            <a:picLocks noChangeAspect="1"/>
          </p:cNvPicPr>
          <p:nvPr/>
        </p:nvPicPr>
        <p:blipFill>
          <a:blip r:embed="rId2"/>
          <a:stretch>
            <a:fillRect/>
          </a:stretch>
        </p:blipFill>
        <p:spPr>
          <a:xfrm>
            <a:off x="8046720" y="731520"/>
            <a:ext cx="3291840" cy="7315200"/>
          </a:xfrm>
          <a:prstGeom prst="rect">
            <a:avLst/>
          </a:prstGeom>
        </p:spPr>
      </p:pic>
      <p:sp>
        <p:nvSpPr>
          <p:cNvPr id="6" name="Rounded Rectangle 5"/>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50" b="1">
                <a:solidFill>
                  <a:srgbClr val="8E1C30"/>
                </a:solidFill>
              </a:defRPr>
            </a:pPr>
            <a:r>
              <a:t>PROBLEM STATEMENT</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500" b="1">
                <a:solidFill>
                  <a:srgbClr val="181E2A"/>
                </a:solidFill>
              </a:defRPr>
            </a:pPr>
            <a:r>
              <a:t>The Crisis: Psychological Coercion Bypasses Firewalls</a:t>
            </a:r>
          </a:p>
        </p:txBody>
      </p:sp>
      <p:sp>
        <p:nvSpPr>
          <p:cNvPr id="5" name="Rectangle 4"/>
          <p:cNvSpPr/>
          <p:nvPr/>
        </p:nvSpPr>
        <p:spPr>
          <a:xfrm>
            <a:off x="731520" y="1234440"/>
            <a:ext cx="1645920" cy="36576"/>
          </a:xfrm>
          <a:prstGeom prst="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1133856"/>
            <a:ext cx="8686800" cy="365760"/>
          </a:xfrm>
          <a:prstGeom prst="rect">
            <a:avLst/>
          </a:prstGeom>
          <a:noFill/>
        </p:spPr>
        <p:txBody>
          <a:bodyPr wrap="square" lIns="0" tIns="0" rIns="0" bIns="0">
            <a:spAutoFit/>
          </a:bodyPr>
          <a:lstStyle/>
          <a:p>
            <a:pPr>
              <a:defRPr sz="1250">
                <a:solidFill>
                  <a:srgbClr val="6B7280"/>
                </a:solidFill>
              </a:defRPr>
            </a:pPr>
            <a:r>
              <a:t>Scammers do not hack phone systems—they hack human fear, trust, and authority.</a:t>
            </a:r>
          </a:p>
        </p:txBody>
      </p:sp>
      <p:sp>
        <p:nvSpPr>
          <p:cNvPr id="7" name="Rounded Rectangle 6"/>
          <p:cNvSpPr/>
          <p:nvPr/>
        </p:nvSpPr>
        <p:spPr>
          <a:xfrm>
            <a:off x="731520" y="1828800"/>
            <a:ext cx="3383280" cy="438912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2103120"/>
            <a:ext cx="731520" cy="41148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400" b="1">
                <a:solidFill>
                  <a:srgbClr val="FFFFFF"/>
                </a:solidFill>
              </a:defRPr>
            </a:pPr>
            <a:r>
              <a:t>01</a:t>
            </a:r>
          </a:p>
        </p:txBody>
      </p:sp>
      <p:sp>
        <p:nvSpPr>
          <p:cNvPr id="9" name="TextBox 8"/>
          <p:cNvSpPr txBox="1"/>
          <p:nvPr/>
        </p:nvSpPr>
        <p:spPr>
          <a:xfrm>
            <a:off x="1920240" y="2011680"/>
            <a:ext cx="1920240" cy="594360"/>
          </a:xfrm>
          <a:prstGeom prst="rect">
            <a:avLst/>
          </a:prstGeom>
          <a:noFill/>
        </p:spPr>
        <p:txBody>
          <a:bodyPr wrap="square" lIns="0" tIns="0" rIns="0" bIns="0">
            <a:spAutoFit/>
          </a:bodyPr>
          <a:lstStyle/>
          <a:p>
            <a:pPr>
              <a:defRPr sz="2000" b="1">
                <a:solidFill>
                  <a:srgbClr val="8E1C30"/>
                </a:solidFill>
              </a:defRPr>
            </a:pPr>
            <a:r>
              <a:t>$10B+</a:t>
            </a:r>
          </a:p>
          <a:p>
            <a:pPr>
              <a:defRPr sz="900" b="1">
                <a:solidFill>
                  <a:srgbClr val="6B7280"/>
                </a:solidFill>
              </a:defRPr>
            </a:pPr>
            <a:r>
              <a:t>ANNUAL GLOBAL LOSSES</a:t>
            </a:r>
          </a:p>
        </p:txBody>
      </p:sp>
      <p:sp>
        <p:nvSpPr>
          <p:cNvPr id="10" name="TextBox 9"/>
          <p:cNvSpPr txBox="1"/>
          <p:nvPr/>
        </p:nvSpPr>
        <p:spPr>
          <a:xfrm>
            <a:off x="1005840" y="2743200"/>
            <a:ext cx="2834640" cy="3291840"/>
          </a:xfrm>
          <a:prstGeom prst="rect">
            <a:avLst/>
          </a:prstGeom>
          <a:noFill/>
        </p:spPr>
        <p:txBody>
          <a:bodyPr wrap="square" lIns="0" tIns="0" rIns="0" bIns="0">
            <a:spAutoFit/>
          </a:bodyPr>
          <a:lstStyle/>
          <a:p>
            <a:pPr>
              <a:spcAft>
                <a:spcPts val="1000"/>
              </a:spcAft>
              <a:defRPr sz="1400" b="1">
                <a:solidFill>
                  <a:srgbClr val="181E2A"/>
                </a:solidFill>
              </a:defRPr>
            </a:pPr>
            <a:r>
              <a:t>Devastating Financial Extortion</a:t>
            </a:r>
          </a:p>
          <a:p>
            <a:pPr>
              <a:spcAft>
                <a:spcPts val="600"/>
              </a:spcAft>
              <a:defRPr sz="1100">
                <a:solidFill>
                  <a:srgbClr val="181E2A"/>
                </a:solidFill>
              </a:defRPr>
            </a:pPr>
            <a:r>
              <a:t>• Digital Arrest &amp; Fake KYC scams siphon seniors' life savings in minutes.</a:t>
            </a:r>
          </a:p>
          <a:p>
            <a:pPr>
              <a:spcAft>
                <a:spcPts val="600"/>
              </a:spcAft>
              <a:defRPr sz="1100">
                <a:solidFill>
                  <a:srgbClr val="181E2A"/>
                </a:solidFill>
              </a:defRPr>
            </a:pPr>
            <a:r>
              <a:t>• Authority Impersonation: Callers pretend to be Police, CBI, or Bank Managers.</a:t>
            </a:r>
          </a:p>
          <a:p>
            <a:pPr>
              <a:spcAft>
                <a:spcPts val="600"/>
              </a:spcAft>
              <a:defRPr sz="1100">
                <a:solidFill>
                  <a:srgbClr val="181E2A"/>
                </a:solidFill>
              </a:defRPr>
            </a:pPr>
            <a:r>
              <a:t>• High cognitive overload prevents elders from verifying claims.</a:t>
            </a:r>
          </a:p>
        </p:txBody>
      </p:sp>
      <p:sp>
        <p:nvSpPr>
          <p:cNvPr id="11" name="Rounded Rectangle 10"/>
          <p:cNvSpPr/>
          <p:nvPr/>
        </p:nvSpPr>
        <p:spPr>
          <a:xfrm>
            <a:off x="4389120" y="1828800"/>
            <a:ext cx="3383280" cy="438912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63440" y="2103120"/>
            <a:ext cx="731520" cy="41148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400" b="1">
                <a:solidFill>
                  <a:srgbClr val="FFFFFF"/>
                </a:solidFill>
              </a:defRPr>
            </a:pPr>
            <a:r>
              <a:t>02</a:t>
            </a:r>
          </a:p>
        </p:txBody>
      </p:sp>
      <p:sp>
        <p:nvSpPr>
          <p:cNvPr id="13" name="TextBox 12"/>
          <p:cNvSpPr txBox="1"/>
          <p:nvPr/>
        </p:nvSpPr>
        <p:spPr>
          <a:xfrm>
            <a:off x="5577840" y="2011680"/>
            <a:ext cx="1920240" cy="594360"/>
          </a:xfrm>
          <a:prstGeom prst="rect">
            <a:avLst/>
          </a:prstGeom>
          <a:noFill/>
        </p:spPr>
        <p:txBody>
          <a:bodyPr wrap="square" lIns="0" tIns="0" rIns="0" bIns="0">
            <a:spAutoFit/>
          </a:bodyPr>
          <a:lstStyle/>
          <a:p>
            <a:pPr>
              <a:defRPr sz="2000" b="1">
                <a:solidFill>
                  <a:srgbClr val="8E1C30"/>
                </a:solidFill>
              </a:defRPr>
            </a:pPr>
            <a:r>
              <a:t>70%+</a:t>
            </a:r>
          </a:p>
          <a:p>
            <a:pPr>
              <a:defRPr sz="900" b="1">
                <a:solidFill>
                  <a:srgbClr val="6B7280"/>
                </a:solidFill>
              </a:defRPr>
            </a:pPr>
            <a:r>
              <a:t>VICTIMS ARE ELDERLY</a:t>
            </a:r>
          </a:p>
        </p:txBody>
      </p:sp>
      <p:sp>
        <p:nvSpPr>
          <p:cNvPr id="14" name="TextBox 13"/>
          <p:cNvSpPr txBox="1"/>
          <p:nvPr/>
        </p:nvSpPr>
        <p:spPr>
          <a:xfrm>
            <a:off x="4663440" y="2743200"/>
            <a:ext cx="2834640" cy="3291840"/>
          </a:xfrm>
          <a:prstGeom prst="rect">
            <a:avLst/>
          </a:prstGeom>
          <a:noFill/>
        </p:spPr>
        <p:txBody>
          <a:bodyPr wrap="square" lIns="0" tIns="0" rIns="0" bIns="0">
            <a:spAutoFit/>
          </a:bodyPr>
          <a:lstStyle/>
          <a:p>
            <a:pPr>
              <a:spcAft>
                <a:spcPts val="1000"/>
              </a:spcAft>
              <a:defRPr sz="1400" b="1">
                <a:solidFill>
                  <a:srgbClr val="181E2A"/>
                </a:solidFill>
              </a:defRPr>
            </a:pPr>
            <a:r>
              <a:t>Artificial Urgency &amp; Coercion</a:t>
            </a:r>
          </a:p>
          <a:p>
            <a:pPr>
              <a:spcAft>
                <a:spcPts val="600"/>
              </a:spcAft>
              <a:defRPr sz="1100">
                <a:solidFill>
                  <a:srgbClr val="181E2A"/>
                </a:solidFill>
              </a:defRPr>
            </a:pPr>
            <a:r>
              <a:t>• Scammers engineer acute panic: 'Your account is blocked in 10 minutes!'</a:t>
            </a:r>
          </a:p>
          <a:p>
            <a:pPr>
              <a:spcAft>
                <a:spcPts val="600"/>
              </a:spcAft>
              <a:defRPr sz="1100">
                <a:solidFill>
                  <a:srgbClr val="181E2A"/>
                </a:solidFill>
              </a:defRPr>
            </a:pPr>
            <a:r>
              <a:t>• Fear of arrest and legal penalty paralyses critical decision-making.</a:t>
            </a:r>
          </a:p>
          <a:p>
            <a:pPr>
              <a:spcAft>
                <a:spcPts val="600"/>
              </a:spcAft>
              <a:defRPr sz="1100">
                <a:solidFill>
                  <a:srgbClr val="181E2A"/>
                </a:solidFill>
              </a:defRPr>
            </a:pPr>
            <a:r>
              <a:t>• Independent elders have zero real-time guidance when under duress.</a:t>
            </a:r>
          </a:p>
        </p:txBody>
      </p:sp>
      <p:sp>
        <p:nvSpPr>
          <p:cNvPr id="15" name="Rounded Rectangle 14"/>
          <p:cNvSpPr/>
          <p:nvPr/>
        </p:nvSpPr>
        <p:spPr>
          <a:xfrm>
            <a:off x="8046720" y="1828800"/>
            <a:ext cx="3383280" cy="438912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21040" y="2103120"/>
            <a:ext cx="731520" cy="41148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400" b="1">
                <a:solidFill>
                  <a:srgbClr val="FFFFFF"/>
                </a:solidFill>
              </a:defRPr>
            </a:pPr>
            <a:r>
              <a:t>03</a:t>
            </a:r>
          </a:p>
        </p:txBody>
      </p:sp>
      <p:sp>
        <p:nvSpPr>
          <p:cNvPr id="17" name="TextBox 16"/>
          <p:cNvSpPr txBox="1"/>
          <p:nvPr/>
        </p:nvSpPr>
        <p:spPr>
          <a:xfrm>
            <a:off x="9235440" y="2011680"/>
            <a:ext cx="1920240" cy="594360"/>
          </a:xfrm>
          <a:prstGeom prst="rect">
            <a:avLst/>
          </a:prstGeom>
          <a:noFill/>
        </p:spPr>
        <p:txBody>
          <a:bodyPr wrap="square" lIns="0" tIns="0" rIns="0" bIns="0">
            <a:spAutoFit/>
          </a:bodyPr>
          <a:lstStyle/>
          <a:p>
            <a:pPr>
              <a:defRPr sz="2000" b="1">
                <a:solidFill>
                  <a:srgbClr val="8E1C30"/>
                </a:solidFill>
              </a:defRPr>
            </a:pPr>
            <a:r>
              <a:t>100%</a:t>
            </a:r>
          </a:p>
          <a:p>
            <a:pPr>
              <a:defRPr sz="900" b="1">
                <a:solidFill>
                  <a:srgbClr val="6B7280"/>
                </a:solidFill>
              </a:defRPr>
            </a:pPr>
            <a:r>
              <a:t>ISOLATED DURING CALL</a:t>
            </a:r>
          </a:p>
        </p:txBody>
      </p:sp>
      <p:sp>
        <p:nvSpPr>
          <p:cNvPr id="18" name="TextBox 17"/>
          <p:cNvSpPr txBox="1"/>
          <p:nvPr/>
        </p:nvSpPr>
        <p:spPr>
          <a:xfrm>
            <a:off x="8321040" y="2743200"/>
            <a:ext cx="2834640" cy="3291840"/>
          </a:xfrm>
          <a:prstGeom prst="rect">
            <a:avLst/>
          </a:prstGeom>
          <a:noFill/>
        </p:spPr>
        <p:txBody>
          <a:bodyPr wrap="square" lIns="0" tIns="0" rIns="0" bIns="0">
            <a:spAutoFit/>
          </a:bodyPr>
          <a:lstStyle/>
          <a:p>
            <a:pPr>
              <a:spcAft>
                <a:spcPts val="1000"/>
              </a:spcAft>
              <a:defRPr sz="1400" b="1">
                <a:solidFill>
                  <a:srgbClr val="181E2A"/>
                </a:solidFill>
              </a:defRPr>
            </a:pPr>
            <a:r>
              <a:t>Enforced Social Isolation</a:t>
            </a:r>
          </a:p>
          <a:p>
            <a:pPr>
              <a:spcAft>
                <a:spcPts val="600"/>
              </a:spcAft>
              <a:defRPr sz="1100">
                <a:solidFill>
                  <a:srgbClr val="181E2A"/>
                </a:solidFill>
              </a:defRPr>
            </a:pPr>
            <a:r>
              <a:t>• Scammer command: 'Stay on the line. Do not hang up or tell family.'</a:t>
            </a:r>
          </a:p>
          <a:p>
            <a:pPr>
              <a:spcAft>
                <a:spcPts val="600"/>
              </a:spcAft>
              <a:defRPr sz="1100">
                <a:solidFill>
                  <a:srgbClr val="181E2A"/>
                </a:solidFill>
              </a:defRPr>
            </a:pPr>
            <a:r>
              <a:t>• The victim is intentionally isolated from their support network.</a:t>
            </a:r>
          </a:p>
          <a:p>
            <a:pPr>
              <a:spcAft>
                <a:spcPts val="600"/>
              </a:spcAft>
              <a:defRPr sz="1100">
                <a:solidFill>
                  <a:srgbClr val="181E2A"/>
                </a:solidFill>
              </a:defRPr>
            </a:pPr>
            <a:r>
              <a:t>• Existing tools provide no safe mechanism to alert relatives mid-call.</a:t>
            </a:r>
          </a:p>
        </p:txBody>
      </p:sp>
      <p:sp>
        <p:nvSpPr>
          <p:cNvPr id="19" name="Rounded Rectangle 18"/>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50" b="1">
                <a:solidFill>
                  <a:srgbClr val="8E1C30"/>
                </a:solidFill>
              </a:defRPr>
            </a:pPr>
            <a:r>
              <a:t>MARKET GAP</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500" b="1">
                <a:solidFill>
                  <a:srgbClr val="181E2A"/>
                </a:solidFill>
              </a:defRPr>
            </a:pPr>
            <a:r>
              <a:t>Why Existing Defenses Consistently Fail</a:t>
            </a:r>
          </a:p>
        </p:txBody>
      </p:sp>
      <p:sp>
        <p:nvSpPr>
          <p:cNvPr id="5" name="Rectangle 4"/>
          <p:cNvSpPr/>
          <p:nvPr/>
        </p:nvSpPr>
        <p:spPr>
          <a:xfrm>
            <a:off x="731520" y="1234440"/>
            <a:ext cx="1645920" cy="36576"/>
          </a:xfrm>
          <a:prstGeom prst="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1133856"/>
            <a:ext cx="8686800" cy="365760"/>
          </a:xfrm>
          <a:prstGeom prst="rect">
            <a:avLst/>
          </a:prstGeom>
          <a:noFill/>
        </p:spPr>
        <p:txBody>
          <a:bodyPr wrap="square" lIns="0" tIns="0" rIns="0" bIns="0">
            <a:spAutoFit/>
          </a:bodyPr>
          <a:lstStyle/>
          <a:p>
            <a:pPr>
              <a:defRPr sz="1250">
                <a:solidFill>
                  <a:srgbClr val="6B7280"/>
                </a:solidFill>
              </a:defRPr>
            </a:pPr>
            <a:r>
              <a:t>Static lookup databases and cloud recorders cannot protect seniors in real time.</a:t>
            </a:r>
          </a:p>
        </p:txBody>
      </p:sp>
      <p:sp>
        <p:nvSpPr>
          <p:cNvPr id="7" name="Rounded Rectangle 6"/>
          <p:cNvSpPr/>
          <p:nvPr/>
        </p:nvSpPr>
        <p:spPr>
          <a:xfrm>
            <a:off x="731520" y="1828800"/>
            <a:ext cx="3383280" cy="438912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 y="2057400"/>
            <a:ext cx="2926080" cy="777240"/>
          </a:xfrm>
          <a:prstGeom prst="round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F5F3EE"/>
                </a:solidFill>
              </a:defRPr>
            </a:pPr>
            <a:r>
              <a:t>01  •  CROWDSOURCE LAG</a:t>
            </a:r>
          </a:p>
          <a:p>
            <a:pPr>
              <a:defRPr sz="1200" b="1">
                <a:solidFill>
                  <a:srgbClr val="FFFFFF"/>
                </a:solidFill>
              </a:defRPr>
            </a:pPr>
            <a:r>
              <a:t>Caller ID Lookups (Truecaller)</a:t>
            </a:r>
          </a:p>
        </p:txBody>
      </p:sp>
      <p:sp>
        <p:nvSpPr>
          <p:cNvPr id="9" name="TextBox 8"/>
          <p:cNvSpPr txBox="1"/>
          <p:nvPr/>
        </p:nvSpPr>
        <p:spPr>
          <a:xfrm>
            <a:off x="960120" y="3017520"/>
            <a:ext cx="2926080" cy="2926080"/>
          </a:xfrm>
          <a:prstGeom prst="rect">
            <a:avLst/>
          </a:prstGeom>
          <a:noFill/>
        </p:spPr>
        <p:txBody>
          <a:bodyPr wrap="square" lIns="0" tIns="0" rIns="0" bIns="0">
            <a:spAutoFit/>
          </a:bodyPr>
          <a:lstStyle/>
          <a:p/>
          <a:p>
            <a:pPr>
              <a:spcAft>
                <a:spcPts val="800"/>
              </a:spcAft>
              <a:defRPr sz="1150">
                <a:solidFill>
                  <a:srgbClr val="181E2A"/>
                </a:solidFill>
              </a:defRPr>
            </a:pPr>
            <a:r>
              <a:t>• Relies on historical user reports.</a:t>
            </a:r>
          </a:p>
          <a:p>
            <a:pPr>
              <a:spcAft>
                <a:spcPts val="800"/>
              </a:spcAft>
              <a:defRPr sz="1150">
                <a:solidFill>
                  <a:srgbClr val="181E2A"/>
                </a:solidFill>
              </a:defRPr>
            </a:pPr>
            <a:r>
              <a:t>• Completely blind to newly bought SIMs, VoIP spoofing, and virtual numbers.</a:t>
            </a:r>
          </a:p>
          <a:p>
            <a:pPr>
              <a:spcAft>
                <a:spcPts val="800"/>
              </a:spcAft>
              <a:defRPr sz="1150">
                <a:solidFill>
                  <a:srgbClr val="181E2A"/>
                </a:solidFill>
              </a:defRPr>
            </a:pPr>
            <a:r>
              <a:t>• First dozens of victims are defrauded before any number is flagged as spam.</a:t>
            </a:r>
          </a:p>
        </p:txBody>
      </p:sp>
      <p:sp>
        <p:nvSpPr>
          <p:cNvPr id="10" name="Rounded Rectangle 9"/>
          <p:cNvSpPr/>
          <p:nvPr/>
        </p:nvSpPr>
        <p:spPr>
          <a:xfrm>
            <a:off x="4389120" y="1828800"/>
            <a:ext cx="3383280" cy="438912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17720" y="2057400"/>
            <a:ext cx="2926080" cy="777240"/>
          </a:xfrm>
          <a:prstGeom prst="round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F5F3EE"/>
                </a:solidFill>
              </a:defRPr>
            </a:pPr>
            <a:r>
              <a:t>02  •  DAMAGE ALREADY DONE</a:t>
            </a:r>
          </a:p>
          <a:p>
            <a:pPr>
              <a:defRPr sz="1200" b="1">
                <a:solidFill>
                  <a:srgbClr val="FFFFFF"/>
                </a:solidFill>
              </a:defRPr>
            </a:pPr>
            <a:r>
              <a:t>Post-Mortem Bank SMS Alerts</a:t>
            </a:r>
          </a:p>
        </p:txBody>
      </p:sp>
      <p:sp>
        <p:nvSpPr>
          <p:cNvPr id="12" name="TextBox 11"/>
          <p:cNvSpPr txBox="1"/>
          <p:nvPr/>
        </p:nvSpPr>
        <p:spPr>
          <a:xfrm>
            <a:off x="4617720" y="3017520"/>
            <a:ext cx="2926080" cy="2926080"/>
          </a:xfrm>
          <a:prstGeom prst="rect">
            <a:avLst/>
          </a:prstGeom>
          <a:noFill/>
        </p:spPr>
        <p:txBody>
          <a:bodyPr wrap="square" lIns="0" tIns="0" rIns="0" bIns="0">
            <a:spAutoFit/>
          </a:bodyPr>
          <a:lstStyle/>
          <a:p/>
          <a:p>
            <a:pPr>
              <a:spcAft>
                <a:spcPts val="800"/>
              </a:spcAft>
              <a:defRPr sz="1150">
                <a:solidFill>
                  <a:srgbClr val="181E2A"/>
                </a:solidFill>
              </a:defRPr>
            </a:pPr>
            <a:r>
              <a:t>• SMS arrives after the money has already left the account.</a:t>
            </a:r>
          </a:p>
          <a:p>
            <a:pPr>
              <a:spcAft>
                <a:spcPts val="800"/>
              </a:spcAft>
              <a:defRPr sz="1150">
                <a:solidFill>
                  <a:srgbClr val="181E2A"/>
                </a:solidFill>
              </a:defRPr>
            </a:pPr>
            <a:r>
              <a:t>• Victims are pressured to divulge OTPs within 60 seconds under duress.</a:t>
            </a:r>
          </a:p>
          <a:p>
            <a:pPr>
              <a:spcAft>
                <a:spcPts val="800"/>
              </a:spcAft>
              <a:defRPr sz="1150">
                <a:solidFill>
                  <a:srgbClr val="181E2A"/>
                </a:solidFill>
              </a:defRPr>
            </a:pPr>
            <a:r>
              <a:t>• Bank freezes cannot reverse instant UPI or cryptocurrency transfers.</a:t>
            </a:r>
          </a:p>
        </p:txBody>
      </p:sp>
      <p:sp>
        <p:nvSpPr>
          <p:cNvPr id="13" name="Rounded Rectangle 12"/>
          <p:cNvSpPr/>
          <p:nvPr/>
        </p:nvSpPr>
        <p:spPr>
          <a:xfrm>
            <a:off x="8046720" y="1828800"/>
            <a:ext cx="3383280" cy="438912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75320" y="2057400"/>
            <a:ext cx="2926080" cy="777240"/>
          </a:xfrm>
          <a:prstGeom prst="round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F5F3EE"/>
                </a:solidFill>
              </a:defRPr>
            </a:pPr>
            <a:r>
              <a:t>03  •  PRIVACY &amp; LEGAL BARRIER</a:t>
            </a:r>
          </a:p>
          <a:p>
            <a:pPr>
              <a:defRPr sz="1200" b="1">
                <a:solidFill>
                  <a:srgbClr val="FFFFFF"/>
                </a:solidFill>
              </a:defRPr>
            </a:pPr>
            <a:r>
              <a:t>Cloud Audio Recorders</a:t>
            </a:r>
          </a:p>
        </p:txBody>
      </p:sp>
      <p:sp>
        <p:nvSpPr>
          <p:cNvPr id="15" name="TextBox 14"/>
          <p:cNvSpPr txBox="1"/>
          <p:nvPr/>
        </p:nvSpPr>
        <p:spPr>
          <a:xfrm>
            <a:off x="8275320" y="3017520"/>
            <a:ext cx="2926080" cy="2926080"/>
          </a:xfrm>
          <a:prstGeom prst="rect">
            <a:avLst/>
          </a:prstGeom>
          <a:noFill/>
        </p:spPr>
        <p:txBody>
          <a:bodyPr wrap="square" lIns="0" tIns="0" rIns="0" bIns="0">
            <a:spAutoFit/>
          </a:bodyPr>
          <a:lstStyle/>
          <a:p/>
          <a:p>
            <a:pPr>
              <a:spcAft>
                <a:spcPts val="800"/>
              </a:spcAft>
              <a:defRPr sz="1150">
                <a:solidFill>
                  <a:srgbClr val="181E2A"/>
                </a:solidFill>
              </a:defRPr>
            </a:pPr>
            <a:r>
              <a:t>• Recording telephone calls violates two-party wiretapping consent laws.</a:t>
            </a:r>
          </a:p>
          <a:p>
            <a:pPr>
              <a:spcAft>
                <a:spcPts val="800"/>
              </a:spcAft>
              <a:defRPr sz="1150">
                <a:solidFill>
                  <a:srgbClr val="181E2A"/>
                </a:solidFill>
              </a:defRPr>
            </a:pPr>
            <a:r>
              <a:t>• Storing private audio on cloud servers creates severe liability risks.</a:t>
            </a:r>
          </a:p>
          <a:p>
            <a:pPr>
              <a:spcAft>
                <a:spcPts val="800"/>
              </a:spcAft>
              <a:defRPr sz="1150">
                <a:solidFill>
                  <a:srgbClr val="181E2A"/>
                </a:solidFill>
              </a:defRPr>
            </a:pPr>
            <a:r>
              <a:t>• Seniors refuse intrusive spyware that listens into personal family chats.</a:t>
            </a:r>
          </a:p>
        </p:txBody>
      </p:sp>
      <p:sp>
        <p:nvSpPr>
          <p:cNvPr id="16" name="Rounded Rectangle 15"/>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10698480" cy="11887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050" b="1">
                <a:solidFill>
                  <a:srgbClr val="F5F3EE"/>
                </a:solidFill>
              </a:defRPr>
            </a:pPr>
            <a:r>
              <a:t>PROPOSED SOLUTION</a:t>
            </a:r>
          </a:p>
          <a:p>
            <a:pPr>
              <a:defRPr sz="2200" b="1">
                <a:solidFill>
                  <a:srgbClr val="FFFFFF"/>
                </a:solidFill>
              </a:defRPr>
            </a:pPr>
            <a:r>
              <a:t>GuardCall: Behavioral Scam Detection &amp; Caregiver Shield</a:t>
            </a:r>
          </a:p>
        </p:txBody>
      </p:sp>
      <p:sp>
        <p:nvSpPr>
          <p:cNvPr id="4" name="Rounded Rectangle 3"/>
          <p:cNvSpPr/>
          <p:nvPr/>
        </p:nvSpPr>
        <p:spPr>
          <a:xfrm>
            <a:off x="731520" y="1920240"/>
            <a:ext cx="685800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6309360" cy="3931920"/>
          </a:xfrm>
          <a:prstGeom prst="rect">
            <a:avLst/>
          </a:prstGeom>
          <a:noFill/>
        </p:spPr>
        <p:txBody>
          <a:bodyPr wrap="square" lIns="0" tIns="0" rIns="0" bIns="0">
            <a:spAutoFit/>
          </a:bodyPr>
          <a:lstStyle/>
          <a:p/>
          <a:p>
            <a:pPr>
              <a:defRPr sz="1250" b="1">
                <a:solidFill>
                  <a:srgbClr val="8E1C30"/>
                </a:solidFill>
              </a:defRPr>
            </a:pPr>
            <a:r>
              <a:t>1. Real-Time Psychological Signal Detection</a:t>
            </a:r>
          </a:p>
          <a:p>
            <a:pPr>
              <a:spcAft>
                <a:spcPts val="600"/>
              </a:spcAft>
              <a:defRPr sz="1100">
                <a:solidFill>
                  <a:srgbClr val="181E2A"/>
                </a:solidFill>
              </a:defRPr>
            </a:pPr>
            <a:r>
              <a:t>Analyzes conversation dynamics (authority impersonation, urgency, coercion, OTP demands) rather than caller IDs.</a:t>
            </a:r>
          </a:p>
          <a:p>
            <a:pPr>
              <a:defRPr sz="1250" b="1">
                <a:solidFill>
                  <a:srgbClr val="8E1C30"/>
                </a:solidFill>
              </a:defRPr>
            </a:pPr>
            <a:r>
              <a:t>2. Accessible Heads-Up Senior Intervention</a:t>
            </a:r>
          </a:p>
          <a:p>
            <a:pPr>
              <a:spcAft>
                <a:spcPts val="600"/>
              </a:spcAft>
              <a:defRPr sz="1100">
                <a:solidFill>
                  <a:srgbClr val="181E2A"/>
                </a:solidFill>
              </a:defRPr>
            </a:pPr>
            <a:r>
              <a:t>Prominent high-contrast warning dialog automatically interrupts coercive calls with 1-tap 'END CALL'.</a:t>
            </a:r>
          </a:p>
          <a:p>
            <a:pPr>
              <a:defRPr sz="1250" b="1">
                <a:solidFill>
                  <a:srgbClr val="8E1C30"/>
                </a:solidFill>
              </a:defRPr>
            </a:pPr>
            <a:r>
              <a:t>3. Zero-Audio, Zero-Transcript Privacy</a:t>
            </a:r>
          </a:p>
          <a:p>
            <a:pPr>
              <a:spcAft>
                <a:spcPts val="600"/>
              </a:spcAft>
              <a:defRPr sz="1100">
                <a:solidFill>
                  <a:srgbClr val="181E2A"/>
                </a:solidFill>
              </a:defRPr>
            </a:pPr>
            <a:r>
              <a:t>Transient RAM analysis only. Audio is never recorded to disk; conversations are never stored or shared.</a:t>
            </a:r>
          </a:p>
          <a:p>
            <a:pPr>
              <a:defRPr sz="1250" b="1">
                <a:solidFill>
                  <a:srgbClr val="8E1C30"/>
                </a:solidFill>
              </a:defRPr>
            </a:pPr>
            <a:r>
              <a:t>4. Proactive Family Circle Escalation</a:t>
            </a:r>
          </a:p>
          <a:p>
            <a:pPr>
              <a:spcAft>
                <a:spcPts val="600"/>
              </a:spcAft>
              <a:defRPr sz="1100">
                <a:solidFill>
                  <a:srgbClr val="181E2A"/>
                </a:solidFill>
              </a:defRPr>
            </a:pPr>
            <a:r>
              <a:t>Seniors can tap 'Alert Family' to send structured threat telemetry to authorized caregivers without sharing audio.</a:t>
            </a:r>
          </a:p>
          <a:p>
            <a:pPr>
              <a:defRPr sz="1250" b="1">
                <a:solidFill>
                  <a:srgbClr val="8E1C30"/>
                </a:solidFill>
              </a:defRPr>
            </a:pPr>
            <a:r>
              <a:t>5. False-Positive Immunity Benchmark</a:t>
            </a:r>
          </a:p>
          <a:p>
            <a:pPr>
              <a:spcAft>
                <a:spcPts val="600"/>
              </a:spcAft>
              <a:defRPr sz="1100">
                <a:solidFill>
                  <a:srgbClr val="181E2A"/>
                </a:solidFill>
              </a:defRPr>
            </a:pPr>
            <a:r>
              <a:t>Distinguishes legitimate bank advisories ('We never ask for OTP') from fraud, preserving user trust.</a:t>
            </a:r>
          </a:p>
        </p:txBody>
      </p:sp>
      <p:sp>
        <p:nvSpPr>
          <p:cNvPr id="6" name="Rounded Rectangle 5"/>
          <p:cNvSpPr/>
          <p:nvPr/>
        </p:nvSpPr>
        <p:spPr>
          <a:xfrm>
            <a:off x="7863840" y="1920240"/>
            <a:ext cx="356616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ample_alert_detail.png"/>
          <p:cNvPicPr>
            <a:picLocks noChangeAspect="1"/>
          </p:cNvPicPr>
          <p:nvPr/>
        </p:nvPicPr>
        <p:blipFill>
          <a:blip r:embed="rId2"/>
          <a:stretch>
            <a:fillRect/>
          </a:stretch>
        </p:blipFill>
        <p:spPr>
          <a:xfrm>
            <a:off x="8001000" y="2057400"/>
            <a:ext cx="3291840" cy="7315200"/>
          </a:xfrm>
          <a:prstGeom prst="rect">
            <a:avLst/>
          </a:prstGeom>
        </p:spPr>
      </p:pic>
      <p:sp>
        <p:nvSpPr>
          <p:cNvPr id="8" name="Rounded Rectangle 7"/>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50" b="1">
                <a:solidFill>
                  <a:srgbClr val="8E1C30"/>
                </a:solidFill>
              </a:defRPr>
            </a:pPr>
            <a:r>
              <a:t>ARCHITECTURE PIPELINE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500" b="1">
                <a:solidFill>
                  <a:srgbClr val="181E2A"/>
                </a:solidFill>
              </a:defRPr>
            </a:pPr>
            <a:r>
              <a:t>THE PROCESS: Transient Intelligence Flow</a:t>
            </a:r>
          </a:p>
        </p:txBody>
      </p:sp>
      <p:sp>
        <p:nvSpPr>
          <p:cNvPr id="5" name="Rectangle 4"/>
          <p:cNvSpPr/>
          <p:nvPr/>
        </p:nvSpPr>
        <p:spPr>
          <a:xfrm>
            <a:off x="731520" y="1234440"/>
            <a:ext cx="1645920" cy="36576"/>
          </a:xfrm>
          <a:prstGeom prst="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1133856"/>
            <a:ext cx="8686800" cy="365760"/>
          </a:xfrm>
          <a:prstGeom prst="rect">
            <a:avLst/>
          </a:prstGeom>
          <a:noFill/>
        </p:spPr>
        <p:txBody>
          <a:bodyPr wrap="square" lIns="0" tIns="0" rIns="0" bIns="0">
            <a:spAutoFit/>
          </a:bodyPr>
          <a:lstStyle/>
          <a:p>
            <a:pPr>
              <a:defRPr sz="1250">
                <a:solidFill>
                  <a:srgbClr val="6B7280"/>
                </a:solidFill>
              </a:defRPr>
            </a:pPr>
            <a:r>
              <a:t>Strict decoupling of speech processing, threat intelligence, and user presentation.</a:t>
            </a:r>
          </a:p>
        </p:txBody>
      </p:sp>
      <p:sp>
        <p:nvSpPr>
          <p:cNvPr id="7" name="Rounded Rectangle 6"/>
          <p:cNvSpPr/>
          <p:nvPr/>
        </p:nvSpPr>
        <p:spPr>
          <a:xfrm>
            <a:off x="731520" y="1920240"/>
            <a:ext cx="2011680" cy="7315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01</a:t>
            </a:r>
          </a:p>
          <a:p>
            <a:pPr algn="ctr">
              <a:defRPr sz="900" b="1">
                <a:solidFill>
                  <a:srgbClr val="F5F3EE"/>
                </a:solidFill>
              </a:defRPr>
            </a:pPr>
            <a:r>
              <a:t>INGESTION</a:t>
            </a:r>
          </a:p>
        </p:txBody>
      </p:sp>
      <p:sp>
        <p:nvSpPr>
          <p:cNvPr id="8" name="Rounded Rectangle 7"/>
          <p:cNvSpPr/>
          <p:nvPr/>
        </p:nvSpPr>
        <p:spPr>
          <a:xfrm>
            <a:off x="731520" y="2743200"/>
            <a:ext cx="2011680" cy="33832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26080"/>
            <a:ext cx="1737360" cy="3017520"/>
          </a:xfrm>
          <a:prstGeom prst="rect">
            <a:avLst/>
          </a:prstGeom>
          <a:noFill/>
        </p:spPr>
        <p:txBody>
          <a:bodyPr wrap="square" lIns="0" tIns="0" rIns="0" bIns="0">
            <a:spAutoFit/>
          </a:bodyPr>
          <a:lstStyle/>
          <a:p>
            <a:pPr>
              <a:spcAft>
                <a:spcPts val="800"/>
              </a:spcAft>
              <a:defRPr sz="1200" b="1">
                <a:solidFill>
                  <a:srgbClr val="181E2A"/>
                </a:solidFill>
              </a:defRPr>
            </a:pPr>
            <a:r>
              <a:t>Audio Ingestion</a:t>
            </a:r>
          </a:p>
          <a:p>
            <a:pPr>
              <a:spcAft>
                <a:spcPts val="600"/>
              </a:spcAft>
              <a:defRPr sz="1050">
                <a:solidFill>
                  <a:srgbClr val="6B7280"/>
                </a:solidFill>
              </a:defRPr>
            </a:pPr>
            <a:r>
              <a:t>• Transient audio chunks in device RAM only.</a:t>
            </a:r>
          </a:p>
          <a:p>
            <a:pPr>
              <a:spcAft>
                <a:spcPts val="600"/>
              </a:spcAft>
              <a:defRPr sz="1050">
                <a:solidFill>
                  <a:srgbClr val="6B7280"/>
                </a:solidFill>
              </a:defRPr>
            </a:pPr>
            <a:r>
              <a:t>• Zero disk storage of raw voice.</a:t>
            </a:r>
          </a:p>
        </p:txBody>
      </p:sp>
      <p:sp>
        <p:nvSpPr>
          <p:cNvPr id="10" name="Rounded Rectangle 9"/>
          <p:cNvSpPr/>
          <p:nvPr/>
        </p:nvSpPr>
        <p:spPr>
          <a:xfrm>
            <a:off x="2926080" y="1920240"/>
            <a:ext cx="2011680" cy="7315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02</a:t>
            </a:r>
          </a:p>
          <a:p>
            <a:pPr algn="ctr">
              <a:defRPr sz="900" b="1">
                <a:solidFill>
                  <a:srgbClr val="F5F3EE"/>
                </a:solidFill>
              </a:defRPr>
            </a:pPr>
            <a:r>
              <a:t>TRANSCRIBE</a:t>
            </a:r>
          </a:p>
        </p:txBody>
      </p:sp>
      <p:sp>
        <p:nvSpPr>
          <p:cNvPr id="11" name="Rounded Rectangle 10"/>
          <p:cNvSpPr/>
          <p:nvPr/>
        </p:nvSpPr>
        <p:spPr>
          <a:xfrm>
            <a:off x="2926080" y="2743200"/>
            <a:ext cx="2011680" cy="33832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926080"/>
            <a:ext cx="1737360" cy="3017520"/>
          </a:xfrm>
          <a:prstGeom prst="rect">
            <a:avLst/>
          </a:prstGeom>
          <a:noFill/>
        </p:spPr>
        <p:txBody>
          <a:bodyPr wrap="square" lIns="0" tIns="0" rIns="0" bIns="0">
            <a:spAutoFit/>
          </a:bodyPr>
          <a:lstStyle/>
          <a:p>
            <a:pPr>
              <a:spcAft>
                <a:spcPts val="800"/>
              </a:spcAft>
              <a:defRPr sz="1200" b="1">
                <a:solidFill>
                  <a:srgbClr val="181E2A"/>
                </a:solidFill>
              </a:defRPr>
            </a:pPr>
            <a:r>
              <a:t>Transient STT</a:t>
            </a:r>
          </a:p>
          <a:p>
            <a:pPr>
              <a:spcAft>
                <a:spcPts val="600"/>
              </a:spcAft>
              <a:defRPr sz="1050">
                <a:solidFill>
                  <a:srgbClr val="6B7280"/>
                </a:solidFill>
              </a:defRPr>
            </a:pPr>
            <a:r>
              <a:t>• Abstracted SpeechToText service.</a:t>
            </a:r>
          </a:p>
          <a:p>
            <a:pPr>
              <a:spcAft>
                <a:spcPts val="600"/>
              </a:spcAft>
              <a:defRPr sz="1050">
                <a:solidFill>
                  <a:srgbClr val="6B7280"/>
                </a:solidFill>
              </a:defRPr>
            </a:pPr>
            <a:r>
              <a:t>• Flushed immediately after inference.</a:t>
            </a:r>
          </a:p>
        </p:txBody>
      </p:sp>
      <p:sp>
        <p:nvSpPr>
          <p:cNvPr id="13" name="Rounded Rectangle 12"/>
          <p:cNvSpPr/>
          <p:nvPr/>
        </p:nvSpPr>
        <p:spPr>
          <a:xfrm>
            <a:off x="5120640" y="1920240"/>
            <a:ext cx="2011680" cy="7315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03</a:t>
            </a:r>
          </a:p>
          <a:p>
            <a:pPr algn="ctr">
              <a:defRPr sz="900" b="1">
                <a:solidFill>
                  <a:srgbClr val="F5F3EE"/>
                </a:solidFill>
              </a:defRPr>
            </a:pPr>
            <a:r>
              <a:t>ANALYSIS</a:t>
            </a:r>
          </a:p>
        </p:txBody>
      </p:sp>
      <p:sp>
        <p:nvSpPr>
          <p:cNvPr id="14" name="Rounded Rectangle 13"/>
          <p:cNvSpPr/>
          <p:nvPr/>
        </p:nvSpPr>
        <p:spPr>
          <a:xfrm>
            <a:off x="5120640" y="2743200"/>
            <a:ext cx="2011680" cy="33832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926080"/>
            <a:ext cx="1737360" cy="3017520"/>
          </a:xfrm>
          <a:prstGeom prst="rect">
            <a:avLst/>
          </a:prstGeom>
          <a:noFill/>
        </p:spPr>
        <p:txBody>
          <a:bodyPr wrap="square" lIns="0" tIns="0" rIns="0" bIns="0">
            <a:spAutoFit/>
          </a:bodyPr>
          <a:lstStyle/>
          <a:p>
            <a:pPr>
              <a:spcAft>
                <a:spcPts val="800"/>
              </a:spcAft>
              <a:defRPr sz="1200" b="1">
                <a:solidFill>
                  <a:srgbClr val="181E2A"/>
                </a:solidFill>
              </a:defRPr>
            </a:pPr>
            <a:r>
              <a:t>Detection Engine</a:t>
            </a:r>
          </a:p>
          <a:p>
            <a:pPr>
              <a:spcAft>
                <a:spcPts val="600"/>
              </a:spcAft>
              <a:defRPr sz="1050">
                <a:solidFill>
                  <a:srgbClr val="6B7280"/>
                </a:solidFill>
              </a:defRPr>
            </a:pPr>
            <a:r>
              <a:t>• Multi-turn sequence heuristic rules.</a:t>
            </a:r>
          </a:p>
          <a:p>
            <a:pPr>
              <a:spcAft>
                <a:spcPts val="600"/>
              </a:spcAft>
              <a:defRPr sz="1050">
                <a:solidFill>
                  <a:srgbClr val="6B7280"/>
                </a:solidFill>
              </a:defRPr>
            </a:pPr>
            <a:r>
              <a:t>• Tracks compounding threat signals.</a:t>
            </a:r>
          </a:p>
        </p:txBody>
      </p:sp>
      <p:sp>
        <p:nvSpPr>
          <p:cNvPr id="16" name="Rounded Rectangle 15"/>
          <p:cNvSpPr/>
          <p:nvPr/>
        </p:nvSpPr>
        <p:spPr>
          <a:xfrm>
            <a:off x="7315199" y="1920240"/>
            <a:ext cx="2011680" cy="7315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04</a:t>
            </a:r>
          </a:p>
          <a:p>
            <a:pPr algn="ctr">
              <a:defRPr sz="900" b="1">
                <a:solidFill>
                  <a:srgbClr val="F5F3EE"/>
                </a:solidFill>
              </a:defRPr>
            </a:pPr>
            <a:r>
              <a:t>SCORING</a:t>
            </a:r>
          </a:p>
        </p:txBody>
      </p:sp>
      <p:sp>
        <p:nvSpPr>
          <p:cNvPr id="17" name="Rounded Rectangle 16"/>
          <p:cNvSpPr/>
          <p:nvPr/>
        </p:nvSpPr>
        <p:spPr>
          <a:xfrm>
            <a:off x="7315199" y="2743200"/>
            <a:ext cx="2011680" cy="33832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59" y="2926080"/>
            <a:ext cx="1737360" cy="3017520"/>
          </a:xfrm>
          <a:prstGeom prst="rect">
            <a:avLst/>
          </a:prstGeom>
          <a:noFill/>
        </p:spPr>
        <p:txBody>
          <a:bodyPr wrap="square" lIns="0" tIns="0" rIns="0" bIns="0">
            <a:spAutoFit/>
          </a:bodyPr>
          <a:lstStyle/>
          <a:p>
            <a:pPr>
              <a:spcAft>
                <a:spcPts val="800"/>
              </a:spcAft>
              <a:defRPr sz="1200" b="1">
                <a:solidFill>
                  <a:srgbClr val="181E2A"/>
                </a:solidFill>
              </a:defRPr>
            </a:pPr>
            <a:r>
              <a:t>Risk Tiering</a:t>
            </a:r>
          </a:p>
          <a:p>
            <a:pPr>
              <a:spcAft>
                <a:spcPts val="600"/>
              </a:spcAft>
              <a:defRPr sz="1050">
                <a:solidFill>
                  <a:srgbClr val="6B7280"/>
                </a:solidFill>
              </a:defRPr>
            </a:pPr>
            <a:r>
              <a:t>• 0-39: Safe</a:t>
            </a:r>
          </a:p>
          <a:p>
            <a:pPr>
              <a:spcAft>
                <a:spcPts val="600"/>
              </a:spcAft>
              <a:defRPr sz="1050">
                <a:solidFill>
                  <a:srgbClr val="6B7280"/>
                </a:solidFill>
              </a:defRPr>
            </a:pPr>
            <a:r>
              <a:t>• 40-70: Suspicious</a:t>
            </a:r>
          </a:p>
          <a:p>
            <a:pPr>
              <a:spcAft>
                <a:spcPts val="600"/>
              </a:spcAft>
              <a:defRPr sz="1050">
                <a:solidFill>
                  <a:srgbClr val="6B7280"/>
                </a:solidFill>
              </a:defRPr>
            </a:pPr>
            <a:r>
              <a:t>• 71-84: High Risk</a:t>
            </a:r>
          </a:p>
          <a:p>
            <a:pPr>
              <a:spcAft>
                <a:spcPts val="600"/>
              </a:spcAft>
              <a:defRPr sz="1050">
                <a:solidFill>
                  <a:srgbClr val="6B7280"/>
                </a:solidFill>
              </a:defRPr>
            </a:pPr>
            <a:r>
              <a:t>• 85-100: Critical</a:t>
            </a:r>
          </a:p>
        </p:txBody>
      </p:sp>
      <p:sp>
        <p:nvSpPr>
          <p:cNvPr id="19" name="Rounded Rectangle 18"/>
          <p:cNvSpPr/>
          <p:nvPr/>
        </p:nvSpPr>
        <p:spPr>
          <a:xfrm>
            <a:off x="9509760" y="1920240"/>
            <a:ext cx="2011680" cy="7315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05</a:t>
            </a:r>
          </a:p>
          <a:p>
            <a:pPr algn="ctr">
              <a:defRPr sz="900" b="1">
                <a:solidFill>
                  <a:srgbClr val="F5F3EE"/>
                </a:solidFill>
              </a:defRPr>
            </a:pPr>
            <a:r>
              <a:t>INTERVENE</a:t>
            </a:r>
          </a:p>
        </p:txBody>
      </p:sp>
      <p:sp>
        <p:nvSpPr>
          <p:cNvPr id="20" name="Rounded Rectangle 19"/>
          <p:cNvSpPr/>
          <p:nvPr/>
        </p:nvSpPr>
        <p:spPr>
          <a:xfrm>
            <a:off x="9509760" y="2743200"/>
            <a:ext cx="2011680" cy="33832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6920" y="2926080"/>
            <a:ext cx="1737360" cy="3017520"/>
          </a:xfrm>
          <a:prstGeom prst="rect">
            <a:avLst/>
          </a:prstGeom>
          <a:noFill/>
        </p:spPr>
        <p:txBody>
          <a:bodyPr wrap="square" lIns="0" tIns="0" rIns="0" bIns="0">
            <a:spAutoFit/>
          </a:bodyPr>
          <a:lstStyle/>
          <a:p>
            <a:pPr>
              <a:spcAft>
                <a:spcPts val="800"/>
              </a:spcAft>
              <a:defRPr sz="1200" b="1">
                <a:solidFill>
                  <a:srgbClr val="181E2A"/>
                </a:solidFill>
              </a:defRPr>
            </a:pPr>
            <a:r>
              <a:t>Dual Delivery</a:t>
            </a:r>
          </a:p>
          <a:p>
            <a:pPr>
              <a:spcAft>
                <a:spcPts val="600"/>
              </a:spcAft>
              <a:defRPr sz="1050">
                <a:solidFill>
                  <a:srgbClr val="6B7280"/>
                </a:solidFill>
              </a:defRPr>
            </a:pPr>
            <a:r>
              <a:t>• Senior: High-contrast Warning HUD.</a:t>
            </a:r>
          </a:p>
          <a:p>
            <a:pPr>
              <a:spcAft>
                <a:spcPts val="600"/>
              </a:spcAft>
              <a:defRPr sz="1050">
                <a:solidFill>
                  <a:srgbClr val="6B7280"/>
                </a:solidFill>
              </a:defRPr>
            </a:pPr>
            <a:r>
              <a:t>• Caregiver: Telemetry alert without audio.</a:t>
            </a:r>
          </a:p>
        </p:txBody>
      </p:sp>
      <p:sp>
        <p:nvSpPr>
          <p:cNvPr id="22" name="Rounded Rectangle 21"/>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50" b="1">
                <a:solidFill>
                  <a:srgbClr val="8E1C30"/>
                </a:solidFill>
              </a:defRPr>
            </a:pPr>
            <a:r>
              <a:t>EVALUATOR DEMO CENTER</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500" b="1">
                <a:solidFill>
                  <a:srgbClr val="181E2A"/>
                </a:solidFill>
              </a:defRPr>
            </a:pPr>
            <a:r>
              <a:t>100% Deterministic Offline Evaluation</a:t>
            </a:r>
          </a:p>
        </p:txBody>
      </p:sp>
      <p:sp>
        <p:nvSpPr>
          <p:cNvPr id="5" name="Rectangle 4"/>
          <p:cNvSpPr/>
          <p:nvPr/>
        </p:nvSpPr>
        <p:spPr>
          <a:xfrm>
            <a:off x="731520" y="1234440"/>
            <a:ext cx="1645920" cy="36576"/>
          </a:xfrm>
          <a:prstGeom prst="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1133856"/>
            <a:ext cx="8686800" cy="365760"/>
          </a:xfrm>
          <a:prstGeom prst="rect">
            <a:avLst/>
          </a:prstGeom>
          <a:noFill/>
        </p:spPr>
        <p:txBody>
          <a:bodyPr wrap="square" lIns="0" tIns="0" rIns="0" bIns="0">
            <a:spAutoFit/>
          </a:bodyPr>
          <a:lstStyle/>
          <a:p>
            <a:pPr>
              <a:defRPr sz="1250">
                <a:solidFill>
                  <a:srgbClr val="6B7280"/>
                </a:solidFill>
              </a:defRPr>
            </a:pPr>
            <a:r>
              <a:t>Judges can test realistic scam scenarios with zero network latency or cloud credentials.</a:t>
            </a:r>
          </a:p>
        </p:txBody>
      </p:sp>
      <p:sp>
        <p:nvSpPr>
          <p:cNvPr id="7" name="Rounded Rectangle 6"/>
          <p:cNvSpPr/>
          <p:nvPr/>
        </p:nvSpPr>
        <p:spPr>
          <a:xfrm>
            <a:off x="731520" y="1920240"/>
            <a:ext cx="621792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5669280" cy="3931920"/>
          </a:xfrm>
          <a:prstGeom prst="rect">
            <a:avLst/>
          </a:prstGeom>
          <a:noFill/>
        </p:spPr>
        <p:txBody>
          <a:bodyPr wrap="square" lIns="0" tIns="0" rIns="0" bIns="0">
            <a:spAutoFit/>
          </a:bodyPr>
          <a:lstStyle/>
          <a:p>
            <a:pPr>
              <a:spcAft>
                <a:spcPts val="1000"/>
              </a:spcAft>
              <a:defRPr sz="1500" b="1">
                <a:solidFill>
                  <a:srgbClr val="8E1C30"/>
                </a:solidFill>
              </a:defRPr>
            </a:pPr>
            <a:r>
              <a:t>5 Scripted Multi-Turn Evaluation Scenarios</a:t>
            </a:r>
          </a:p>
          <a:p>
            <a:pPr>
              <a:defRPr sz="1150" b="1">
                <a:solidFill>
                  <a:srgbClr val="181E2A"/>
                </a:solidFill>
              </a:defRPr>
            </a:pPr>
            <a:r>
              <a:t>1. Fake KYC Update (High Risk):</a:t>
            </a:r>
          </a:p>
          <a:p>
            <a:pPr>
              <a:spcAft>
                <a:spcPts val="400"/>
              </a:spcAft>
              <a:defRPr sz="1050">
                <a:solidFill>
                  <a:srgbClr val="6B7280"/>
                </a:solidFill>
              </a:defRPr>
            </a:pPr>
            <a:r>
              <a:t>Turn 1: Bank claim (10) ➔ Turn 2: Urgency ('Expires today') ➔ Turn 3: Threat ➔ Turn 4: OTP demand ➔ Surges to 75 / 100 High Risk.</a:t>
            </a:r>
          </a:p>
          <a:p>
            <a:pPr>
              <a:defRPr sz="1150" b="1">
                <a:solidFill>
                  <a:srgbClr val="181E2A"/>
                </a:solidFill>
              </a:defRPr>
            </a:pPr>
            <a:r>
              <a:t>2. Digital Arrest Threat (Critical Threat):</a:t>
            </a:r>
          </a:p>
          <a:p>
            <a:pPr>
              <a:spcAft>
                <a:spcPts val="400"/>
              </a:spcAft>
              <a:defRPr sz="1050">
                <a:solidFill>
                  <a:srgbClr val="6B7280"/>
                </a:solidFill>
              </a:defRPr>
            </a:pPr>
            <a:r>
              <a:t>Impersonating police claiming contraband parcel. Demands isolation ➔ Surges to 90 / 100.</a:t>
            </a:r>
          </a:p>
          <a:p>
            <a:pPr>
              <a:defRPr sz="1150" b="1">
                <a:solidFill>
                  <a:srgbClr val="181E2A"/>
                </a:solidFill>
              </a:defRPr>
            </a:pPr>
            <a:r>
              <a:t>3. Grandchild Emergency (High Risk):</a:t>
            </a:r>
          </a:p>
          <a:p>
            <a:pPr>
              <a:spcAft>
                <a:spcPts val="400"/>
              </a:spcAft>
              <a:defRPr sz="1050">
                <a:solidFill>
                  <a:srgbClr val="6B7280"/>
                </a:solidFill>
              </a:defRPr>
            </a:pPr>
            <a:r>
              <a:t>Fabricated hospital distress demanding urgent UPI deposit ➔ High Risk.</a:t>
            </a:r>
          </a:p>
          <a:p>
            <a:pPr>
              <a:defRPr sz="1150" b="1">
                <a:solidFill>
                  <a:srgbClr val="181E2A"/>
                </a:solidFill>
              </a:defRPr>
            </a:pPr>
            <a:r>
              <a:t>4. Legitimate Bank Alert (BENCHMARK - 0/100 Safe):</a:t>
            </a:r>
          </a:p>
          <a:p>
            <a:pPr>
              <a:spcAft>
                <a:spcPts val="400"/>
              </a:spcAft>
              <a:defRPr sz="1050">
                <a:solidFill>
                  <a:srgbClr val="6B7280"/>
                </a:solidFill>
              </a:defRPr>
            </a:pPr>
            <a:r>
              <a:t>Bank rep: 'We never ask for your OTP/PIN/password' ➔ Stays at 0 / 100 Safe (Proves zero false positives).</a:t>
            </a:r>
          </a:p>
          <a:p>
            <a:pPr>
              <a:defRPr sz="1150" b="1">
                <a:solidFill>
                  <a:srgbClr val="181E2A"/>
                </a:solidFill>
              </a:defRPr>
            </a:pPr>
            <a:r>
              <a:t>5. Hospital Appointment Reschedule:</a:t>
            </a:r>
          </a:p>
          <a:p>
            <a:pPr>
              <a:spcAft>
                <a:spcPts val="400"/>
              </a:spcAft>
              <a:defRPr sz="1050">
                <a:solidFill>
                  <a:srgbClr val="6B7280"/>
                </a:solidFill>
              </a:defRPr>
            </a:pPr>
            <a:r>
              <a:t>Routine clinical appointment call ➔ Benchmark 0 / 100 Safe.</a:t>
            </a:r>
          </a:p>
        </p:txBody>
      </p:sp>
      <p:sp>
        <p:nvSpPr>
          <p:cNvPr id="9" name="Rounded Rectangle 8"/>
          <p:cNvSpPr/>
          <p:nvPr/>
        </p:nvSpPr>
        <p:spPr>
          <a:xfrm>
            <a:off x="7223760" y="1920240"/>
            <a:ext cx="4206240" cy="429768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365760"/>
          <a:lstStyle/>
          <a:p>
            <a:pPr algn="ctr">
              <a:spcAft>
                <a:spcPts val="1400"/>
              </a:spcAft>
              <a:defRPr sz="1300" b="1">
                <a:solidFill>
                  <a:srgbClr val="F5F3EE"/>
                </a:solidFill>
              </a:defRPr>
            </a:pPr>
            <a:r>
              <a:t>THE NUMBERS</a:t>
            </a:r>
          </a:p>
          <a:p>
            <a:pPr>
              <a:defRPr sz="2400" b="1">
                <a:solidFill>
                  <a:srgbClr val="FFFFFF"/>
                </a:solidFill>
              </a:defRPr>
            </a:pPr>
            <a:r>
              <a:t>0 / 100</a:t>
            </a:r>
          </a:p>
          <a:p>
            <a:pPr>
              <a:spcAft>
                <a:spcPts val="800"/>
              </a:spcAft>
              <a:defRPr sz="850" b="1">
                <a:solidFill>
                  <a:srgbClr val="F5F3EE"/>
                </a:solidFill>
              </a:defRPr>
            </a:pPr>
            <a:r>
              <a:t>SAFE SCORE ON BENCHMARK CALLS</a:t>
            </a:r>
          </a:p>
          <a:p>
            <a:pPr>
              <a:defRPr sz="2400" b="1">
                <a:solidFill>
                  <a:srgbClr val="FFFFFF"/>
                </a:solidFill>
              </a:defRPr>
            </a:pPr>
            <a:r>
              <a:t>75 / 100</a:t>
            </a:r>
          </a:p>
          <a:p>
            <a:pPr>
              <a:spcAft>
                <a:spcPts val="800"/>
              </a:spcAft>
              <a:defRPr sz="850" b="1">
                <a:solidFill>
                  <a:srgbClr val="F5F3EE"/>
                </a:solidFill>
              </a:defRPr>
            </a:pPr>
            <a:r>
              <a:t>HIGH RISK INTERVENTION TRIGGER</a:t>
            </a:r>
          </a:p>
          <a:p>
            <a:pPr>
              <a:defRPr sz="2400" b="1">
                <a:solidFill>
                  <a:srgbClr val="FFFFFF"/>
                </a:solidFill>
              </a:defRPr>
            </a:pPr>
            <a:r>
              <a:t>5</a:t>
            </a:r>
          </a:p>
          <a:p>
            <a:pPr>
              <a:spcAft>
                <a:spcPts val="800"/>
              </a:spcAft>
              <a:defRPr sz="850" b="1">
                <a:solidFill>
                  <a:srgbClr val="F5F3EE"/>
                </a:solidFill>
              </a:defRPr>
            </a:pPr>
            <a:r>
              <a:t>REALISTIC OFFLINE SCENARIOS</a:t>
            </a:r>
          </a:p>
          <a:p>
            <a:pPr>
              <a:defRPr sz="2400" b="1">
                <a:solidFill>
                  <a:srgbClr val="FFFFFF"/>
                </a:solidFill>
              </a:defRPr>
            </a:pPr>
            <a:r>
              <a:t>0ms</a:t>
            </a:r>
          </a:p>
          <a:p>
            <a:pPr>
              <a:spcAft>
                <a:spcPts val="800"/>
              </a:spcAft>
              <a:defRPr sz="850" b="1">
                <a:solidFill>
                  <a:srgbClr val="F5F3EE"/>
                </a:solidFill>
              </a:defRPr>
            </a:pPr>
            <a:r>
              <a:t>NETWORK LATENCY DURING DEMO</a:t>
            </a:r>
          </a:p>
        </p:txBody>
      </p:sp>
      <p:sp>
        <p:nvSpPr>
          <p:cNvPr id="10" name="Rounded Rectangle 9"/>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defRPr>
            </a:pPr>
            <a:r>
              <a:t>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50" b="1">
                <a:solidFill>
                  <a:srgbClr val="8E1C30"/>
                </a:solidFill>
              </a:defRPr>
            </a:pPr>
            <a:r>
              <a:t>PRIVACY ARCHITECTURE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500" b="1">
                <a:solidFill>
                  <a:srgbClr val="181E2A"/>
                </a:solidFill>
              </a:defRPr>
            </a:pPr>
            <a:r>
              <a:t>Privacy-by-Design: Zero Audio, Zero Transcripts</a:t>
            </a:r>
          </a:p>
        </p:txBody>
      </p:sp>
      <p:sp>
        <p:nvSpPr>
          <p:cNvPr id="5" name="Rectangle 4"/>
          <p:cNvSpPr/>
          <p:nvPr/>
        </p:nvSpPr>
        <p:spPr>
          <a:xfrm>
            <a:off x="731520" y="1234440"/>
            <a:ext cx="1645920" cy="36576"/>
          </a:xfrm>
          <a:prstGeom prst="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1133856"/>
            <a:ext cx="8686800" cy="365760"/>
          </a:xfrm>
          <a:prstGeom prst="rect">
            <a:avLst/>
          </a:prstGeom>
          <a:noFill/>
        </p:spPr>
        <p:txBody>
          <a:bodyPr wrap="square" lIns="0" tIns="0" rIns="0" bIns="0">
            <a:spAutoFit/>
          </a:bodyPr>
          <a:lstStyle/>
          <a:p>
            <a:pPr>
              <a:defRPr sz="1250">
                <a:solidFill>
                  <a:srgbClr val="6B7280"/>
                </a:solidFill>
              </a:defRPr>
            </a:pPr>
            <a:r>
              <a:t>Protecting elderly citizens from financial exploitation without sacrificing their dignity.</a:t>
            </a:r>
          </a:p>
        </p:txBody>
      </p:sp>
      <p:sp>
        <p:nvSpPr>
          <p:cNvPr id="7" name="Rounded Rectangle 6"/>
          <p:cNvSpPr/>
          <p:nvPr/>
        </p:nvSpPr>
        <p:spPr>
          <a:xfrm>
            <a:off x="731520" y="1920240"/>
            <a:ext cx="3931920" cy="429768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320040"/>
          <a:lstStyle/>
          <a:p>
            <a:pPr algn="ctr">
              <a:spcAft>
                <a:spcPts val="1400"/>
              </a:spcAft>
              <a:defRPr sz="1500" b="1">
                <a:solidFill>
                  <a:srgbClr val="FFFFFF"/>
                </a:solidFill>
              </a:defRPr>
            </a:pPr>
            <a:r>
              <a:t>100% PRIVATE TO SENIOR</a:t>
            </a:r>
          </a:p>
          <a:p>
            <a:pPr>
              <a:defRPr sz="1150" b="1">
                <a:solidFill>
                  <a:srgbClr val="F5F3EE"/>
                </a:solidFill>
              </a:defRPr>
            </a:pPr>
            <a:r>
              <a:t>🔒 ZERO Audio Recorded or Shared</a:t>
            </a:r>
          </a:p>
          <a:p>
            <a:pPr>
              <a:spcAft>
                <a:spcPts val="800"/>
              </a:spcAft>
              <a:defRPr sz="1000">
                <a:solidFill>
                  <a:srgbClr val="FFFFFF"/>
                </a:solidFill>
              </a:defRPr>
            </a:pPr>
            <a:r>
              <a:t>Microphone audio is transient in RAM only. Zero recordings on disk or cloud.</a:t>
            </a:r>
          </a:p>
          <a:p>
            <a:pPr>
              <a:defRPr sz="1150" b="1">
                <a:solidFill>
                  <a:srgbClr val="F5F3EE"/>
                </a:solidFill>
              </a:defRPr>
            </a:pPr>
            <a:r>
              <a:t>🔒 ZERO Full Transcripts</a:t>
            </a:r>
          </a:p>
          <a:p>
            <a:pPr>
              <a:spcAft>
                <a:spcPts val="800"/>
              </a:spcAft>
              <a:defRPr sz="1000">
                <a:solidFill>
                  <a:srgbClr val="FFFFFF"/>
                </a:solidFill>
              </a:defRPr>
            </a:pPr>
            <a:r>
              <a:t>Spoken words and personal dialogue are NEVER stored or sent to caregivers.</a:t>
            </a:r>
          </a:p>
          <a:p>
            <a:pPr>
              <a:defRPr sz="1150" b="1">
                <a:solidFill>
                  <a:srgbClr val="F5F3EE"/>
                </a:solidFill>
              </a:defRPr>
            </a:pPr>
            <a:r>
              <a:t>🔒 ZERO Credential Storage</a:t>
            </a:r>
          </a:p>
          <a:p>
            <a:pPr>
              <a:spcAft>
                <a:spcPts val="800"/>
              </a:spcAft>
              <a:defRPr sz="1000">
                <a:solidFill>
                  <a:srgbClr val="FFFFFF"/>
                </a:solidFill>
              </a:defRPr>
            </a:pPr>
            <a:r>
              <a:t>OTPs, card numbers, or passwords spoken are automatically scrubbed by AppLogger.</a:t>
            </a:r>
          </a:p>
          <a:p>
            <a:pPr>
              <a:defRPr sz="1150" b="1">
                <a:solidFill>
                  <a:srgbClr val="F5F3EE"/>
                </a:solidFill>
              </a:defRPr>
            </a:pPr>
            <a:r>
              <a:t>🤝 Mutual Dual Authorization</a:t>
            </a:r>
          </a:p>
          <a:p>
            <a:pPr>
              <a:spcAft>
                <a:spcPts val="800"/>
              </a:spcAft>
              <a:defRPr sz="1000">
                <a:solidFill>
                  <a:srgbClr val="FFFFFF"/>
                </a:solidFill>
              </a:defRPr>
            </a:pPr>
            <a:r>
              <a:t>Caregivers must be explicitly invited and authenticated before alerts activate.</a:t>
            </a:r>
          </a:p>
        </p:txBody>
      </p:sp>
      <p:sp>
        <p:nvSpPr>
          <p:cNvPr id="8" name="Rounded Rectangle 7"/>
          <p:cNvSpPr/>
          <p:nvPr/>
        </p:nvSpPr>
        <p:spPr>
          <a:xfrm>
            <a:off x="4937760" y="1920240"/>
            <a:ext cx="365760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a:lstStyle/>
          <a:p>
            <a:pPr algn="ctr">
              <a:spcAft>
                <a:spcPts val="1400"/>
              </a:spcAft>
              <a:defRPr sz="1400" b="1">
                <a:solidFill>
                  <a:srgbClr val="8E1C30"/>
                </a:solidFill>
              </a:defRPr>
            </a:pPr>
            <a:r>
              <a:t>STRUCTURED TELEMETRY ONLY</a:t>
            </a:r>
          </a:p>
          <a:p>
            <a:pPr>
              <a:defRPr sz="1150" b="1">
                <a:solidFill>
                  <a:srgbClr val="181E2A"/>
                </a:solidFill>
              </a:defRPr>
            </a:pPr>
            <a:r>
              <a:t>🛡️ Mathematical Threat Score</a:t>
            </a:r>
          </a:p>
          <a:p>
            <a:pPr>
              <a:spcAft>
                <a:spcPts val="800"/>
              </a:spcAft>
              <a:defRPr sz="1000">
                <a:solidFill>
                  <a:srgbClr val="6B7280"/>
                </a:solidFill>
              </a:defRPr>
            </a:pPr>
            <a:r>
              <a:t>Caregivers receive risk tier: 'Score: 75/100 (High Risk)'.</a:t>
            </a:r>
          </a:p>
          <a:p>
            <a:pPr>
              <a:defRPr sz="1150" b="1">
                <a:solidFill>
                  <a:srgbClr val="181E2A"/>
                </a:solidFill>
              </a:defRPr>
            </a:pPr>
            <a:r>
              <a:t>🏷️ Behavioral Manipulation Tags</a:t>
            </a:r>
          </a:p>
          <a:p>
            <a:pPr>
              <a:spcAft>
                <a:spcPts val="800"/>
              </a:spcAft>
              <a:defRPr sz="1000">
                <a:solidFill>
                  <a:srgbClr val="6B7280"/>
                </a:solidFill>
              </a:defRPr>
            </a:pPr>
            <a:r>
              <a:t>['Authority Impersonation', 'Urgency', 'OTP Solicitation'].</a:t>
            </a:r>
          </a:p>
          <a:p>
            <a:pPr>
              <a:defRPr sz="1150" b="1">
                <a:solidFill>
                  <a:srgbClr val="181E2A"/>
                </a:solidFill>
              </a:defRPr>
            </a:pPr>
            <a:r>
              <a:t>💡 Safe Recommended Action</a:t>
            </a:r>
          </a:p>
          <a:p>
            <a:pPr>
              <a:spcAft>
                <a:spcPts val="800"/>
              </a:spcAft>
              <a:defRPr sz="1000">
                <a:solidFill>
                  <a:srgbClr val="6B7280"/>
                </a:solidFill>
              </a:defRPr>
            </a:pPr>
            <a:r>
              <a:t>'Call your parent immediately. Confirm no OTP was shared.'</a:t>
            </a:r>
          </a:p>
          <a:p>
            <a:pPr>
              <a:defRPr sz="1150" b="1">
                <a:solidFill>
                  <a:srgbClr val="181E2A"/>
                </a:solidFill>
              </a:defRPr>
            </a:pPr>
            <a:r>
              <a:t>✅ Senior Intervention Action</a:t>
            </a:r>
          </a:p>
          <a:p>
            <a:pPr>
              <a:spcAft>
                <a:spcPts val="800"/>
              </a:spcAft>
              <a:defRPr sz="1000">
                <a:solidFill>
                  <a:srgbClr val="6B7280"/>
                </a:solidFill>
              </a:defRPr>
            </a:pPr>
            <a:r>
              <a:t>Logged: 'Senior selected: Alert Family / End Call'.</a:t>
            </a:r>
          </a:p>
        </p:txBody>
      </p:sp>
      <p:sp>
        <p:nvSpPr>
          <p:cNvPr id="9" name="Rounded Rectangle 8"/>
          <p:cNvSpPr/>
          <p:nvPr/>
        </p:nvSpPr>
        <p:spPr>
          <a:xfrm>
            <a:off x="8869680" y="1920240"/>
            <a:ext cx="256032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ample_caregiver_view.png"/>
          <p:cNvPicPr>
            <a:picLocks noChangeAspect="1"/>
          </p:cNvPicPr>
          <p:nvPr/>
        </p:nvPicPr>
        <p:blipFill>
          <a:blip r:embed="rId2"/>
          <a:stretch>
            <a:fillRect/>
          </a:stretch>
        </p:blipFill>
        <p:spPr>
          <a:xfrm>
            <a:off x="8961120" y="2057400"/>
            <a:ext cx="2377440" cy="5283200"/>
          </a:xfrm>
          <a:prstGeom prst="rect">
            <a:avLst/>
          </a:prstGeom>
        </p:spPr>
      </p:pic>
      <p:sp>
        <p:nvSpPr>
          <p:cNvPr id="11" name="Rounded Rectangle 10"/>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50" b="1">
                <a:solidFill>
                  <a:srgbClr val="8E1C30"/>
                </a:solidFill>
              </a:defRPr>
            </a:pPr>
            <a:r>
              <a:t>ENGINEERING EXCELLENCE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500" b="1">
                <a:solidFill>
                  <a:srgbClr val="181E2A"/>
                </a:solidFill>
              </a:defRPr>
            </a:pPr>
            <a:r>
              <a:t>Production-Hardened Mobile Tech Stack</a:t>
            </a:r>
          </a:p>
        </p:txBody>
      </p:sp>
      <p:sp>
        <p:nvSpPr>
          <p:cNvPr id="5" name="Rectangle 4"/>
          <p:cNvSpPr/>
          <p:nvPr/>
        </p:nvSpPr>
        <p:spPr>
          <a:xfrm>
            <a:off x="731520" y="1234440"/>
            <a:ext cx="1645920" cy="36576"/>
          </a:xfrm>
          <a:prstGeom prst="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1133856"/>
            <a:ext cx="8686800" cy="365760"/>
          </a:xfrm>
          <a:prstGeom prst="rect">
            <a:avLst/>
          </a:prstGeom>
          <a:noFill/>
        </p:spPr>
        <p:txBody>
          <a:bodyPr wrap="square" lIns="0" tIns="0" rIns="0" bIns="0">
            <a:spAutoFit/>
          </a:bodyPr>
          <a:lstStyle/>
          <a:p>
            <a:pPr>
              <a:defRPr sz="1250">
                <a:solidFill>
                  <a:srgbClr val="6B7280"/>
                </a:solidFill>
              </a:defRPr>
            </a:pPr>
            <a:r>
              <a:t>Clean layered architecture, elderly accessibility, and 223 automated tests.</a:t>
            </a:r>
          </a:p>
        </p:txBody>
      </p:sp>
      <p:sp>
        <p:nvSpPr>
          <p:cNvPr id="7" name="Rounded Rectangle 6"/>
          <p:cNvSpPr/>
          <p:nvPr/>
        </p:nvSpPr>
        <p:spPr>
          <a:xfrm>
            <a:off x="731520" y="1920240"/>
            <a:ext cx="338328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 y="2148840"/>
            <a:ext cx="2926080" cy="5029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defRPr>
            </a:pPr>
            <a:r>
              <a:t>01  •  MOBILE CLIENT</a:t>
            </a:r>
          </a:p>
        </p:txBody>
      </p:sp>
      <p:sp>
        <p:nvSpPr>
          <p:cNvPr id="9" name="TextBox 8"/>
          <p:cNvSpPr txBox="1"/>
          <p:nvPr/>
        </p:nvSpPr>
        <p:spPr>
          <a:xfrm>
            <a:off x="960120" y="2834640"/>
            <a:ext cx="2926080" cy="3200400"/>
          </a:xfrm>
          <a:prstGeom prst="rect">
            <a:avLst/>
          </a:prstGeom>
          <a:noFill/>
        </p:spPr>
        <p:txBody>
          <a:bodyPr wrap="square" lIns="0" tIns="0" rIns="0" bIns="0">
            <a:spAutoFit/>
          </a:bodyPr>
          <a:lstStyle/>
          <a:p>
            <a:pPr>
              <a:spcAft>
                <a:spcPts val="1000"/>
              </a:spcAft>
              <a:defRPr sz="1400" b="1">
                <a:solidFill>
                  <a:srgbClr val="181E2A"/>
                </a:solidFill>
              </a:defRPr>
            </a:pPr>
            <a:r>
              <a:t>Flutter 3.x / Dart 3.x</a:t>
            </a:r>
          </a:p>
          <a:p>
            <a:pPr>
              <a:spcAft>
                <a:spcPts val="700"/>
              </a:spcAft>
              <a:defRPr sz="1100">
                <a:solidFill>
                  <a:srgbClr val="181E2A"/>
                </a:solidFill>
              </a:defRPr>
            </a:pPr>
            <a:r>
              <a:t>• Material 3 UI with custom accessible primitives (GlassCard, RiskBadge).</a:t>
            </a:r>
          </a:p>
          <a:p>
            <a:pPr>
              <a:spcAft>
                <a:spcPts val="700"/>
              </a:spcAft>
              <a:defRPr sz="1100">
                <a:solidFill>
                  <a:srgbClr val="181E2A"/>
                </a:solidFill>
              </a:defRPr>
            </a:pPr>
            <a:r>
              <a:t>• Large touch targets (48dp+) &amp; high contrast for seniors.</a:t>
            </a:r>
          </a:p>
          <a:p>
            <a:pPr>
              <a:spcAft>
                <a:spcPts val="700"/>
              </a:spcAft>
              <a:defRPr sz="1100">
                <a:solidFill>
                  <a:srgbClr val="181E2A"/>
                </a:solidFill>
              </a:defRPr>
            </a:pPr>
            <a:r>
              <a:t>• Native Reduce Motion toggle disabling dynamic glows.</a:t>
            </a:r>
          </a:p>
          <a:p>
            <a:pPr>
              <a:spcAft>
                <a:spcPts val="700"/>
              </a:spcAft>
              <a:defRPr sz="1100">
                <a:solidFill>
                  <a:srgbClr val="181E2A"/>
                </a:solidFill>
              </a:defRPr>
            </a:pPr>
            <a:r>
              <a:t>• Zero dangerous permissions in AndroidManifest.xml.</a:t>
            </a:r>
          </a:p>
        </p:txBody>
      </p:sp>
      <p:sp>
        <p:nvSpPr>
          <p:cNvPr id="10" name="Rounded Rectangle 9"/>
          <p:cNvSpPr/>
          <p:nvPr/>
        </p:nvSpPr>
        <p:spPr>
          <a:xfrm>
            <a:off x="4389120" y="1920240"/>
            <a:ext cx="338328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17720" y="2148840"/>
            <a:ext cx="2926080" cy="5029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defRPr>
            </a:pPr>
            <a:r>
              <a:t>02  •  AI DETECTION PIPELINE</a:t>
            </a:r>
          </a:p>
        </p:txBody>
      </p:sp>
      <p:sp>
        <p:nvSpPr>
          <p:cNvPr id="12" name="TextBox 11"/>
          <p:cNvSpPr txBox="1"/>
          <p:nvPr/>
        </p:nvSpPr>
        <p:spPr>
          <a:xfrm>
            <a:off x="4617720" y="2834640"/>
            <a:ext cx="2926080" cy="3200400"/>
          </a:xfrm>
          <a:prstGeom prst="rect">
            <a:avLst/>
          </a:prstGeom>
          <a:noFill/>
        </p:spPr>
        <p:txBody>
          <a:bodyPr wrap="square" lIns="0" tIns="0" rIns="0" bIns="0">
            <a:spAutoFit/>
          </a:bodyPr>
          <a:lstStyle/>
          <a:p>
            <a:pPr>
              <a:spcAft>
                <a:spcPts val="1000"/>
              </a:spcAft>
              <a:defRPr sz="1400" b="1">
                <a:solidFill>
                  <a:srgbClr val="181E2A"/>
                </a:solidFill>
              </a:defRPr>
            </a:pPr>
            <a:r>
              <a:t>3 Modular Engines</a:t>
            </a:r>
          </a:p>
          <a:p>
            <a:pPr>
              <a:spcAft>
                <a:spcPts val="700"/>
              </a:spcAft>
              <a:defRPr sz="1100">
                <a:solidFill>
                  <a:srgbClr val="181E2A"/>
                </a:solidFill>
              </a:defRPr>
            </a:pPr>
            <a:r>
              <a:t>• 1. Offline Mock: 100% in-memory heuristic engine.</a:t>
            </a:r>
          </a:p>
          <a:p>
            <a:pPr>
              <a:spcAft>
                <a:spcPts val="700"/>
              </a:spcAft>
              <a:defRPr sz="1100">
                <a:solidFill>
                  <a:srgbClr val="181E2A"/>
                </a:solidFill>
              </a:defRPr>
            </a:pPr>
            <a:r>
              <a:t>• 2. Edge Function Proxy: Supabase serverless protecting API keys.</a:t>
            </a:r>
          </a:p>
          <a:p>
            <a:pPr>
              <a:spcAft>
                <a:spcPts val="700"/>
              </a:spcAft>
              <a:defRPr sz="1100">
                <a:solidFill>
                  <a:srgbClr val="181E2A"/>
                </a:solidFill>
              </a:defRPr>
            </a:pPr>
            <a:r>
              <a:t>• 3. Direct Dev: Gemini 1.5 Flash / GPT-4o-mini testing.</a:t>
            </a:r>
          </a:p>
          <a:p>
            <a:pPr>
              <a:spcAft>
                <a:spcPts val="700"/>
              </a:spcAft>
              <a:defRPr sz="1100">
                <a:solidFill>
                  <a:srgbClr val="181E2A"/>
                </a:solidFill>
              </a:defRPr>
            </a:pPr>
            <a:r>
              <a:t>• AppLogger scrubbing credentials automatically.</a:t>
            </a:r>
          </a:p>
        </p:txBody>
      </p:sp>
      <p:sp>
        <p:nvSpPr>
          <p:cNvPr id="13" name="Rounded Rectangle 12"/>
          <p:cNvSpPr/>
          <p:nvPr/>
        </p:nvSpPr>
        <p:spPr>
          <a:xfrm>
            <a:off x="8046720" y="1920240"/>
            <a:ext cx="338328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75320" y="2148840"/>
            <a:ext cx="2926080" cy="50292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defRPr>
            </a:pPr>
            <a:r>
              <a:t>03  •  QUALITY ASSURANCE</a:t>
            </a:r>
          </a:p>
        </p:txBody>
      </p:sp>
      <p:sp>
        <p:nvSpPr>
          <p:cNvPr id="15" name="TextBox 14"/>
          <p:cNvSpPr txBox="1"/>
          <p:nvPr/>
        </p:nvSpPr>
        <p:spPr>
          <a:xfrm>
            <a:off x="8275320" y="2834640"/>
            <a:ext cx="2926080" cy="3200400"/>
          </a:xfrm>
          <a:prstGeom prst="rect">
            <a:avLst/>
          </a:prstGeom>
          <a:noFill/>
        </p:spPr>
        <p:txBody>
          <a:bodyPr wrap="square" lIns="0" tIns="0" rIns="0" bIns="0">
            <a:spAutoFit/>
          </a:bodyPr>
          <a:lstStyle/>
          <a:p>
            <a:pPr>
              <a:spcAft>
                <a:spcPts val="1000"/>
              </a:spcAft>
              <a:defRPr sz="1400" b="1">
                <a:solidFill>
                  <a:srgbClr val="181E2A"/>
                </a:solidFill>
              </a:defRPr>
            </a:pPr>
            <a:r>
              <a:t>223 / 223 Tests Passing</a:t>
            </a:r>
          </a:p>
          <a:p>
            <a:pPr>
              <a:spcAft>
                <a:spcPts val="700"/>
              </a:spcAft>
              <a:defRPr sz="1100">
                <a:solidFill>
                  <a:srgbClr val="181E2A"/>
                </a:solidFill>
              </a:defRPr>
            </a:pPr>
            <a:r>
              <a:t>• 223 automated unit, widget, and domain tests passing.</a:t>
            </a:r>
          </a:p>
          <a:p>
            <a:pPr>
              <a:spcAft>
                <a:spcPts val="700"/>
              </a:spcAft>
              <a:defRPr sz="1100">
                <a:solidFill>
                  <a:srgbClr val="181E2A"/>
                </a:solidFill>
              </a:defRPr>
            </a:pPr>
            <a:r>
              <a:t>• Supabase Auth &amp; PostgreSQL Row-Level Security (RLS).</a:t>
            </a:r>
          </a:p>
          <a:p>
            <a:pPr>
              <a:spcAft>
                <a:spcPts val="700"/>
              </a:spcAft>
              <a:defRPr sz="1100">
                <a:solidFill>
                  <a:srgbClr val="181E2A"/>
                </a:solidFill>
              </a:defRPr>
            </a:pPr>
            <a:r>
              <a:t>• Provider-neutral NotificationService architecture.</a:t>
            </a:r>
          </a:p>
          <a:p>
            <a:pPr>
              <a:spcAft>
                <a:spcPts val="700"/>
              </a:spcAft>
              <a:defRPr sz="1100">
                <a:solidFill>
                  <a:srgbClr val="181E2A"/>
                </a:solidFill>
              </a:defRPr>
            </a:pPr>
            <a:r>
              <a:t>• Zero horizontal overflow mobile safety layout.</a:t>
            </a:r>
          </a:p>
        </p:txBody>
      </p:sp>
      <p:sp>
        <p:nvSpPr>
          <p:cNvPr id="16" name="Rounded Rectangle 15"/>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50" b="1">
                <a:solidFill>
                  <a:srgbClr val="8E1C30"/>
                </a:solidFill>
              </a:defRPr>
            </a:pPr>
            <a:r>
              <a:t>GROWTH STRATEGY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500" b="1">
                <a:solidFill>
                  <a:srgbClr val="181E2A"/>
                </a:solidFill>
              </a:defRPr>
            </a:pPr>
            <a:r>
              <a:t>PROJECT TIMELINE: Commercial Viability &amp; Scale</a:t>
            </a:r>
          </a:p>
        </p:txBody>
      </p:sp>
      <p:sp>
        <p:nvSpPr>
          <p:cNvPr id="5" name="Rectangle 4"/>
          <p:cNvSpPr/>
          <p:nvPr/>
        </p:nvSpPr>
        <p:spPr>
          <a:xfrm>
            <a:off x="731520" y="1234440"/>
            <a:ext cx="1645920" cy="36576"/>
          </a:xfrm>
          <a:prstGeom prst="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1133856"/>
            <a:ext cx="8686800" cy="365760"/>
          </a:xfrm>
          <a:prstGeom prst="rect">
            <a:avLst/>
          </a:prstGeom>
          <a:noFill/>
        </p:spPr>
        <p:txBody>
          <a:bodyPr wrap="square" lIns="0" tIns="0" rIns="0" bIns="0">
            <a:spAutoFit/>
          </a:bodyPr>
          <a:lstStyle/>
          <a:p>
            <a:pPr>
              <a:defRPr sz="1250">
                <a:solidFill>
                  <a:srgbClr val="6B7280"/>
                </a:solidFill>
              </a:defRPr>
            </a:pPr>
            <a:r>
              <a:t>From working hackathon prototype to nationwide telecom and consumer protection.</a:t>
            </a:r>
          </a:p>
        </p:txBody>
      </p:sp>
      <p:sp>
        <p:nvSpPr>
          <p:cNvPr id="7" name="Rounded Rectangle 6"/>
          <p:cNvSpPr/>
          <p:nvPr/>
        </p:nvSpPr>
        <p:spPr>
          <a:xfrm>
            <a:off x="731520" y="1920240"/>
            <a:ext cx="338328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 y="2148840"/>
            <a:ext cx="2926080" cy="64008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defRPr sz="950" b="1">
                <a:solidFill>
                  <a:srgbClr val="F5F3EE"/>
                </a:solidFill>
              </a:defRPr>
            </a:pPr>
            <a:r>
              <a:t>PHASE 01  •  TODAY</a:t>
            </a:r>
          </a:p>
          <a:p>
            <a:pPr>
              <a:defRPr sz="1100" b="1">
                <a:solidFill>
                  <a:srgbClr val="FFFFFF"/>
                </a:solidFill>
              </a:defRPr>
            </a:pPr>
            <a:r>
              <a:t>Hackathon Working Prototype</a:t>
            </a:r>
          </a:p>
        </p:txBody>
      </p:sp>
      <p:sp>
        <p:nvSpPr>
          <p:cNvPr id="9" name="TextBox 8"/>
          <p:cNvSpPr txBox="1"/>
          <p:nvPr/>
        </p:nvSpPr>
        <p:spPr>
          <a:xfrm>
            <a:off x="960120" y="2926080"/>
            <a:ext cx="2926080" cy="3108960"/>
          </a:xfrm>
          <a:prstGeom prst="rect">
            <a:avLst/>
          </a:prstGeom>
          <a:noFill/>
        </p:spPr>
        <p:txBody>
          <a:bodyPr wrap="square" lIns="0" tIns="0" rIns="0" bIns="0">
            <a:spAutoFit/>
          </a:bodyPr>
          <a:lstStyle/>
          <a:p/>
          <a:p>
            <a:pPr>
              <a:spcAft>
                <a:spcPts val="700"/>
              </a:spcAft>
              <a:defRPr sz="1100">
                <a:solidFill>
                  <a:srgbClr val="181E2A"/>
                </a:solidFill>
              </a:defRPr>
            </a:pPr>
            <a:r>
              <a:t>• Standalone Flutter Android client.</a:t>
            </a:r>
          </a:p>
          <a:p>
            <a:pPr>
              <a:spcAft>
                <a:spcPts val="700"/>
              </a:spcAft>
              <a:defRPr sz="1100">
                <a:solidFill>
                  <a:srgbClr val="181E2A"/>
                </a:solidFill>
              </a:defRPr>
            </a:pPr>
            <a:r>
              <a:t>• Deterministic 5-scenario Demo Center.</a:t>
            </a:r>
          </a:p>
          <a:p>
            <a:pPr>
              <a:spcAft>
                <a:spcPts val="700"/>
              </a:spcAft>
              <a:defRPr sz="1100">
                <a:solidFill>
                  <a:srgbClr val="181E2A"/>
                </a:solidFill>
              </a:defRPr>
            </a:pPr>
            <a:r>
              <a:t>• Multi-turn heuristic scam engine.</a:t>
            </a:r>
          </a:p>
          <a:p>
            <a:pPr>
              <a:spcAft>
                <a:spcPts val="700"/>
              </a:spcAft>
              <a:defRPr sz="1100">
                <a:solidFill>
                  <a:srgbClr val="181E2A"/>
                </a:solidFill>
              </a:defRPr>
            </a:pPr>
            <a:r>
              <a:t>• Privacy-first Caregiver Telemetry Circle.</a:t>
            </a:r>
          </a:p>
          <a:p>
            <a:pPr>
              <a:spcAft>
                <a:spcPts val="700"/>
              </a:spcAft>
              <a:defRPr sz="1100">
                <a:solidFill>
                  <a:srgbClr val="181E2A"/>
                </a:solidFill>
              </a:defRPr>
            </a:pPr>
            <a:r>
              <a:t>• 223/223 automated tests passing.</a:t>
            </a:r>
          </a:p>
        </p:txBody>
      </p:sp>
      <p:sp>
        <p:nvSpPr>
          <p:cNvPr id="10" name="Rounded Rectangle 9"/>
          <p:cNvSpPr/>
          <p:nvPr/>
        </p:nvSpPr>
        <p:spPr>
          <a:xfrm>
            <a:off x="4389120" y="1920240"/>
            <a:ext cx="338328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17720" y="2148840"/>
            <a:ext cx="2926080" cy="640080"/>
          </a:xfrm>
          <a:prstGeom prst="round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defRPr sz="950" b="1">
                <a:solidFill>
                  <a:srgbClr val="F5F3EE"/>
                </a:solidFill>
              </a:defRPr>
            </a:pPr>
            <a:r>
              <a:t>PHASE 02  •  6–12 MOS</a:t>
            </a:r>
          </a:p>
          <a:p>
            <a:pPr>
              <a:defRPr sz="1100" b="1">
                <a:solidFill>
                  <a:srgbClr val="FFFFFF"/>
                </a:solidFill>
              </a:defRPr>
            </a:pPr>
            <a:r>
              <a:t>On-Device SLMs (MediaPipe/ONNX)</a:t>
            </a:r>
          </a:p>
        </p:txBody>
      </p:sp>
      <p:sp>
        <p:nvSpPr>
          <p:cNvPr id="12" name="TextBox 11"/>
          <p:cNvSpPr txBox="1"/>
          <p:nvPr/>
        </p:nvSpPr>
        <p:spPr>
          <a:xfrm>
            <a:off x="4617720" y="2926080"/>
            <a:ext cx="2926080" cy="3108960"/>
          </a:xfrm>
          <a:prstGeom prst="rect">
            <a:avLst/>
          </a:prstGeom>
          <a:noFill/>
        </p:spPr>
        <p:txBody>
          <a:bodyPr wrap="square" lIns="0" tIns="0" rIns="0" bIns="0">
            <a:spAutoFit/>
          </a:bodyPr>
          <a:lstStyle/>
          <a:p/>
          <a:p>
            <a:pPr>
              <a:spcAft>
                <a:spcPts val="700"/>
              </a:spcAft>
              <a:defRPr sz="1100">
                <a:solidFill>
                  <a:srgbClr val="181E2A"/>
                </a:solidFill>
              </a:defRPr>
            </a:pPr>
            <a:r>
              <a:t>• Local Small Language Models for 100% offline neural inference.</a:t>
            </a:r>
          </a:p>
          <a:p>
            <a:pPr>
              <a:spcAft>
                <a:spcPts val="700"/>
              </a:spcAft>
              <a:defRPr sz="1100">
                <a:solidFill>
                  <a:srgbClr val="181E2A"/>
                </a:solidFill>
              </a:defRPr>
            </a:pPr>
            <a:r>
              <a:t>• Zero cloud latency and air-gapped privacy.</a:t>
            </a:r>
          </a:p>
          <a:p>
            <a:pPr>
              <a:spcAft>
                <a:spcPts val="700"/>
              </a:spcAft>
              <a:defRPr sz="1100">
                <a:solidFill>
                  <a:srgbClr val="181E2A"/>
                </a:solidFill>
              </a:defRPr>
            </a:pPr>
            <a:r>
              <a:t>• Multi-lingual Indian dialect coverage: Hindi, Telugu, Tamil, Marathi.</a:t>
            </a:r>
          </a:p>
          <a:p>
            <a:pPr>
              <a:spcAft>
                <a:spcPts val="700"/>
              </a:spcAft>
              <a:defRPr sz="1100">
                <a:solidFill>
                  <a:srgbClr val="181E2A"/>
                </a:solidFill>
              </a:defRPr>
            </a:pPr>
            <a:r>
              <a:t>• Voice biometrics for synthetic voice clone detection.</a:t>
            </a:r>
          </a:p>
        </p:txBody>
      </p:sp>
      <p:sp>
        <p:nvSpPr>
          <p:cNvPr id="13" name="Rounded Rectangle 12"/>
          <p:cNvSpPr/>
          <p:nvPr/>
        </p:nvSpPr>
        <p:spPr>
          <a:xfrm>
            <a:off x="8046720" y="1920240"/>
            <a:ext cx="3383280" cy="4297680"/>
          </a:xfrm>
          <a:prstGeom prst="roundRect">
            <a:avLst/>
          </a:prstGeom>
          <a:solidFill>
            <a:srgbClr val="FFFFFF"/>
          </a:solidFill>
          <a:ln w="1524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75320" y="2148840"/>
            <a:ext cx="2926080" cy="640080"/>
          </a:xfrm>
          <a:prstGeom prst="round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defRPr sz="950" b="1">
                <a:solidFill>
                  <a:srgbClr val="F5F3EE"/>
                </a:solidFill>
              </a:defRPr>
            </a:pPr>
            <a:r>
              <a:t>PHASE 03  •  SCALE</a:t>
            </a:r>
          </a:p>
          <a:p>
            <a:pPr>
              <a:defRPr sz="1100" b="1">
                <a:solidFill>
                  <a:srgbClr val="FFFFFF"/>
                </a:solidFill>
              </a:defRPr>
            </a:pPr>
            <a:r>
              <a:t>Telecom Carrier Integration</a:t>
            </a:r>
          </a:p>
        </p:txBody>
      </p:sp>
      <p:sp>
        <p:nvSpPr>
          <p:cNvPr id="15" name="TextBox 14"/>
          <p:cNvSpPr txBox="1"/>
          <p:nvPr/>
        </p:nvSpPr>
        <p:spPr>
          <a:xfrm>
            <a:off x="8275320" y="2926080"/>
            <a:ext cx="2926080" cy="3108960"/>
          </a:xfrm>
          <a:prstGeom prst="rect">
            <a:avLst/>
          </a:prstGeom>
          <a:noFill/>
        </p:spPr>
        <p:txBody>
          <a:bodyPr wrap="square" lIns="0" tIns="0" rIns="0" bIns="0">
            <a:spAutoFit/>
          </a:bodyPr>
          <a:lstStyle/>
          <a:p/>
          <a:p>
            <a:pPr>
              <a:spcAft>
                <a:spcPts val="700"/>
              </a:spcAft>
              <a:defRPr sz="1100">
                <a:solidFill>
                  <a:srgbClr val="181E2A"/>
                </a:solidFill>
              </a:defRPr>
            </a:pPr>
            <a:r>
              <a:t>• Direct partnerships with mobile carriers (Airtel, Jio, etc.).</a:t>
            </a:r>
          </a:p>
          <a:p>
            <a:pPr>
              <a:spcAft>
                <a:spcPts val="700"/>
              </a:spcAft>
              <a:defRPr sz="1100">
                <a:solidFill>
                  <a:srgbClr val="181E2A"/>
                </a:solidFill>
              </a:defRPr>
            </a:pPr>
            <a:r>
              <a:t>• Carrier-level call stream inspection with user consent.</a:t>
            </a:r>
          </a:p>
          <a:p>
            <a:pPr>
              <a:spcAft>
                <a:spcPts val="700"/>
              </a:spcAft>
              <a:defRPr sz="1100">
                <a:solidFill>
                  <a:srgbClr val="181E2A"/>
                </a:solidFill>
              </a:defRPr>
            </a:pPr>
            <a:r>
              <a:t>• Native companion dialer app integration.</a:t>
            </a:r>
          </a:p>
          <a:p>
            <a:pPr>
              <a:spcAft>
                <a:spcPts val="700"/>
              </a:spcAft>
              <a:defRPr sz="1100">
                <a:solidFill>
                  <a:srgbClr val="181E2A"/>
                </a:solidFill>
              </a:defRPr>
            </a:pPr>
            <a:r>
              <a:t>• Automated 1-tap reporting to National Cybercrime Portal (NCRP 1930).</a:t>
            </a:r>
          </a:p>
        </p:txBody>
      </p:sp>
      <p:sp>
        <p:nvSpPr>
          <p:cNvPr id="16" name="Rounded Rectangle 15"/>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698480" cy="4572000"/>
          </a:xfrm>
          <a:prstGeom prst="roundRect">
            <a:avLst/>
          </a:prstGeom>
          <a:solidFill>
            <a:srgbClr val="8E1C3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731520" rIns="731520"/>
          <a:lstStyle/>
          <a:p>
            <a:pPr algn="ctr">
              <a:spcAft>
                <a:spcPts val="1200"/>
              </a:spcAft>
              <a:defRPr sz="1200" b="1">
                <a:solidFill>
                  <a:srgbClr val="F5F3EE"/>
                </a:solidFill>
              </a:defRPr>
            </a:pPr>
            <a:r>
              <a:t>GUARDCALL — RESTORING CONFIDENCE IN PHONE CALLS</a:t>
            </a:r>
          </a:p>
          <a:p>
            <a:pPr>
              <a:spcAft>
                <a:spcPts val="1200"/>
              </a:spcAft>
              <a:defRPr sz="4600" b="1">
                <a:solidFill>
                  <a:srgbClr val="FFFFFF"/>
                </a:solidFill>
              </a:defRPr>
            </a:pPr>
            <a:r>
              <a:t>THANK YOU!</a:t>
            </a:r>
          </a:p>
          <a:p>
            <a:pPr>
              <a:spcAft>
                <a:spcPts val="2400"/>
              </a:spcAft>
              <a:defRPr sz="1600">
                <a:solidFill>
                  <a:srgbClr val="FFFFFF"/>
                </a:solidFill>
              </a:defRPr>
            </a:pPr>
            <a:r>
              <a:t>Seniors should never have to fear answering their phones, and families shouldn't have to live with anxiety.</a:t>
            </a:r>
          </a:p>
          <a:p>
            <a:pPr>
              <a:spcAft>
                <a:spcPts val="2000"/>
              </a:spcAft>
              <a:defRPr sz="1400" b="1">
                <a:solidFill>
                  <a:srgbClr val="F5F3EE"/>
                </a:solidFill>
              </a:defRPr>
            </a:pPr>
            <a:r>
              <a:t>✦ Proactive Fraud Defense  •  ✦ 100% Zero-Audio Privacy  •  ✦ Connected Family Circle</a:t>
            </a:r>
          </a:p>
          <a:p>
            <a:pPr>
              <a:defRPr sz="1300" b="1">
                <a:solidFill>
                  <a:srgbClr val="FFFFFF"/>
                </a:solidFill>
              </a:defRPr>
            </a:pPr>
            <a:r>
              <a:t>👉 WE INVITE YOU TO EXPERIENCE THE LIVE SIMULATION IN OUR DEMO CENTER NOW!</a:t>
            </a:r>
          </a:p>
        </p:txBody>
      </p:sp>
      <p:sp>
        <p:nvSpPr>
          <p:cNvPr id="4" name="Rounded Rectangle 3"/>
          <p:cNvSpPr/>
          <p:nvPr/>
        </p:nvSpPr>
        <p:spPr>
          <a:xfrm>
            <a:off x="10607040" y="6035040"/>
            <a:ext cx="1005840" cy="411480"/>
          </a:xfrm>
          <a:prstGeom prst="roundRect">
            <a:avLst/>
          </a:prstGeom>
          <a:solidFill>
            <a:srgbClr val="E9E5D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B263B"/>
                </a:solidFill>
              </a:defRPr>
            </a:pPr>
            <a:r>
              <a: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