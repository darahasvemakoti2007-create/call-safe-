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408"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 Pinninti" userId="1e2f762f0bd3f260" providerId="LiveId" clId="{93AECE5D-13E2-49CA-8D33-83DAAB416A54}"/>
    <pc:docChg chg="modSld sldOrd">
      <pc:chgData name="Venu Pinninti" userId="1e2f762f0bd3f260" providerId="LiveId" clId="{93AECE5D-13E2-49CA-8D33-83DAAB416A54}" dt="2026-10-10T04:55:47.381" v="1"/>
      <pc:docMkLst>
        <pc:docMk/>
      </pc:docMkLst>
      <pc:sldChg chg="ord">
        <pc:chgData name="Venu Pinninti" userId="1e2f762f0bd3f260" providerId="LiveId" clId="{93AECE5D-13E2-49CA-8D33-83DAAB416A54}" dt="2026-10-10T04:55:47.381" v="1"/>
        <pc:sldMkLst>
          <pc:docMk/>
          <pc:sldMk cId="0" sldId="25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4388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15 seconds, a senior is targeted by a phone scammer. Traditional spam blockers check caller IDs, but scammers spoof numbers in seconds. We built GuardCall: the first real-time conversational scam shield that protects seniors while preserving 100% privacy.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Scammers no longer rely on simple phishing links. They call victims directly, impersonate law enforcement, and induce severe panic. The senior is trapped alone on the call, isolated from their loved ones, until their money is transferred.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Number-lookup apps only flag scammers after victims have already lost money. And recording phone calls to cloud servers creates massive privacy violations. We need a solution that analyzes conversational intent in real time without recording private audio.</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GuardCall acts like an intelligent guardian sitting right beside the senior. It listens to conversational tactics—urgency, threats, OTP demands—and displays clear, easy-to-read interventions, allowing the elder to end the call or immediately escalate to their family.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pipeline feeds transient audio chunks through speech recognition directly into a multi-turn heuristic engine. When compounding threats like urgency and OTP requests occur in sequence, the risk score surges past threshold, instantly triggering intervention dialogues.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prove reliability, we built a deterministic Demo Center with 5 diverse scenarios. In the KYC demo, notice how caller urgency elevates the risk to 75, triggering the intervention dialog. And crucially, legitimate bank calls remain at 0/100, proving zero false positives.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Privacy is our core architectural pillar. Caregivers never hear the conversation or read personal transcripts. They receive only structured threat metadata: the risk score, the detected signals, and the action taken.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Built with Flutter for smooth cross-platform delivery and Supabase for secure cloud synchronization. Our engine is completely modular, and our entire pipeline is backed by 223 passing automated tests.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engineered GuardCall with accessibility at the center, including native reduce-motion toggles. While we demonstrate this today with controlled audio inputs, our roadmap includes deploying lightweight on-device SLMs and partnering directly with telecom carriers.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GuardCall gives seniors the independence they deserve, and gives families peace of mind. Thank you, and we invite you to experience the live multi-turn simulation right now!</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0"/>
            <a:ext cx="6858000" cy="4114800"/>
          </a:xfrm>
          <a:prstGeom prst="rect">
            <a:avLst/>
          </a:prstGeom>
          <a:noFill/>
        </p:spPr>
        <p:txBody>
          <a:bodyPr wrap="square">
            <a:spAutoFit/>
          </a:bodyPr>
          <a:lstStyle/>
          <a:p>
            <a:pPr>
              <a:defRPr sz="4400" b="1">
                <a:solidFill>
                  <a:srgbClr val="38BDF8"/>
                </a:solidFill>
              </a:defRPr>
            </a:pPr>
            <a:r>
              <a:t>GUARDCALL</a:t>
            </a:r>
          </a:p>
          <a:p>
            <a:pPr>
              <a:spcBef>
                <a:spcPts val="800"/>
              </a:spcBef>
              <a:spcAft>
                <a:spcPts val="1800"/>
              </a:spcAft>
              <a:defRPr sz="2800" b="1">
                <a:solidFill>
                  <a:srgbClr val="F8FAFC"/>
                </a:solidFill>
              </a:defRPr>
            </a:pPr>
            <a:r>
              <a:t>AI-Powered Phone Scam Shield</a:t>
            </a:r>
          </a:p>
          <a:p>
            <a:pPr>
              <a:spcAft>
                <a:spcPts val="2400"/>
              </a:spcAft>
              <a:defRPr sz="1500">
                <a:solidFill>
                  <a:srgbClr val="94A3B8"/>
                </a:solidFill>
              </a:defRPr>
            </a:pPr>
            <a:r>
              <a:t>Real-time conversational manipulation defense for vulnerable seniors — engineered privacy-first with zero raw audio retention and proactive family escalation.</a:t>
            </a:r>
          </a:p>
          <a:p>
            <a:pPr>
              <a:spcAft>
                <a:spcPts val="600"/>
              </a:spcAft>
              <a:defRPr sz="1300" b="1">
                <a:solidFill>
                  <a:srgbClr val="34D399"/>
                </a:solidFill>
              </a:defRPr>
            </a:pPr>
            <a:r>
              <a:t>🛡️ Zero-Audio &amp; Zero-Transcript Privacy</a:t>
            </a:r>
          </a:p>
          <a:p>
            <a:pPr>
              <a:spcAft>
                <a:spcPts val="600"/>
              </a:spcAft>
              <a:defRPr sz="1300" b="1">
                <a:solidFill>
                  <a:srgbClr val="34D399"/>
                </a:solidFill>
              </a:defRPr>
            </a:pPr>
            <a:r>
              <a:t>🧠 Real-Time Psychological Pattern Detection</a:t>
            </a:r>
          </a:p>
          <a:p>
            <a:pPr>
              <a:spcAft>
                <a:spcPts val="600"/>
              </a:spcAft>
              <a:defRPr sz="1300" b="1">
                <a:solidFill>
                  <a:srgbClr val="34D399"/>
                </a:solidFill>
              </a:defRPr>
            </a:pPr>
            <a:r>
              <a:t>👨‍👩‍👧 Proactive Family Circle Escalation</a:t>
            </a:r>
          </a:p>
          <a:p>
            <a:pPr>
              <a:spcAft>
                <a:spcPts val="600"/>
              </a:spcAft>
              <a:defRPr sz="1300" b="1">
                <a:solidFill>
                  <a:srgbClr val="34D399"/>
                </a:solidFill>
              </a:defRPr>
            </a:pPr>
            <a:r>
              <a:t>⚡ 100% Deterministic Offline Demo Center</a:t>
            </a:r>
          </a:p>
        </p:txBody>
      </p:sp>
      <p:pic>
        <p:nvPicPr>
          <p:cNvPr id="4" name="Picture 3" descr="step19_home_ready.png"/>
          <p:cNvPicPr>
            <a:picLocks noChangeAspect="1"/>
          </p:cNvPicPr>
          <p:nvPr/>
        </p:nvPicPr>
        <p:blipFill>
          <a:blip r:embed="rId3"/>
          <a:stretch>
            <a:fillRect/>
          </a:stretch>
        </p:blipFill>
        <p:spPr>
          <a:xfrm>
            <a:off x="8046720" y="914400"/>
            <a:ext cx="3291840" cy="7315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defRPr>
            </a:pPr>
            <a:r>
              <a:t>PROBLEM ANALYSIS</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600" b="1">
                <a:solidFill>
                  <a:srgbClr val="F8FAFC"/>
                </a:solidFill>
              </a:defRPr>
            </a:pPr>
            <a:r>
              <a:t>The Problem: Sophisticated Psychological Coercion</a:t>
            </a:r>
          </a:p>
        </p:txBody>
      </p:sp>
      <p:sp>
        <p:nvSpPr>
          <p:cNvPr id="5" name="TextBox 4"/>
          <p:cNvSpPr txBox="1"/>
          <p:nvPr/>
        </p:nvSpPr>
        <p:spPr>
          <a:xfrm>
            <a:off x="731520" y="1325880"/>
            <a:ext cx="10698480" cy="365760"/>
          </a:xfrm>
          <a:prstGeom prst="rect">
            <a:avLst/>
          </a:prstGeom>
          <a:noFill/>
        </p:spPr>
        <p:txBody>
          <a:bodyPr wrap="square" lIns="0" tIns="0" rIns="0" bIns="0">
            <a:spAutoFit/>
          </a:bodyPr>
          <a:lstStyle/>
          <a:p>
            <a:pPr>
              <a:defRPr sz="1400">
                <a:solidFill>
                  <a:srgbClr val="94A3B8"/>
                </a:solidFill>
              </a:defRPr>
            </a:pPr>
            <a:r>
              <a:t>Scammers don't hack devices—they hack human psychology through fear, authority, and urgency.</a:t>
            </a:r>
          </a:p>
        </p:txBody>
      </p:sp>
      <p:sp>
        <p:nvSpPr>
          <p:cNvPr id="6" name="Rounded Rectangle 5"/>
          <p:cNvSpPr/>
          <p:nvPr/>
        </p:nvSpPr>
        <p:spPr>
          <a:xfrm>
            <a:off x="731520" y="2011680"/>
            <a:ext cx="3291840" cy="41148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94560"/>
            <a:ext cx="2834640" cy="3749040"/>
          </a:xfrm>
          <a:prstGeom prst="rect">
            <a:avLst/>
          </a:prstGeom>
          <a:noFill/>
        </p:spPr>
        <p:txBody>
          <a:bodyPr wrap="square" lIns="0" tIns="0" rIns="0" bIns="0">
            <a:spAutoFit/>
          </a:bodyPr>
          <a:lstStyle/>
          <a:p>
            <a:pPr>
              <a:spcAft>
                <a:spcPts val="1000"/>
              </a:spcAft>
              <a:defRPr sz="1600" b="1">
                <a:solidFill>
                  <a:srgbClr val="F43F5E"/>
                </a:solidFill>
              </a:defRPr>
            </a:pPr>
            <a:r>
              <a:t>🚨 $10B+ Financial Drain</a:t>
            </a:r>
          </a:p>
          <a:p>
            <a:pPr>
              <a:spcAft>
                <a:spcPts val="800"/>
              </a:spcAft>
              <a:defRPr sz="1200">
                <a:solidFill>
                  <a:srgbClr val="F8FAFC"/>
                </a:solidFill>
              </a:defRPr>
            </a:pPr>
            <a:r>
              <a:t>• Impersonation &amp; Digital Arrest scams cause catastrophic financial loss globally.</a:t>
            </a:r>
          </a:p>
          <a:p>
            <a:pPr>
              <a:spcAft>
                <a:spcPts val="800"/>
              </a:spcAft>
              <a:defRPr sz="1200">
                <a:solidFill>
                  <a:srgbClr val="F8FAFC"/>
                </a:solidFill>
              </a:defRPr>
            </a:pPr>
            <a:r>
              <a:t>• Senior citizens and elderly individuals living alone are prime targets.</a:t>
            </a:r>
          </a:p>
          <a:p>
            <a:pPr>
              <a:spcAft>
                <a:spcPts val="800"/>
              </a:spcAft>
              <a:defRPr sz="1200">
                <a:solidFill>
                  <a:srgbClr val="F8FAFC"/>
                </a:solidFill>
              </a:defRPr>
            </a:pPr>
            <a:r>
              <a:t>• Life savings are wiped out within a single 15-minute phone call.</a:t>
            </a:r>
          </a:p>
        </p:txBody>
      </p:sp>
      <p:sp>
        <p:nvSpPr>
          <p:cNvPr id="8" name="Rounded Rectangle 7"/>
          <p:cNvSpPr/>
          <p:nvPr/>
        </p:nvSpPr>
        <p:spPr>
          <a:xfrm>
            <a:off x="4389120" y="2011680"/>
            <a:ext cx="3291840" cy="41148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17720" y="2194560"/>
            <a:ext cx="2834640" cy="3749040"/>
          </a:xfrm>
          <a:prstGeom prst="rect">
            <a:avLst/>
          </a:prstGeom>
          <a:noFill/>
        </p:spPr>
        <p:txBody>
          <a:bodyPr wrap="square" lIns="0" tIns="0" rIns="0" bIns="0">
            <a:spAutoFit/>
          </a:bodyPr>
          <a:lstStyle/>
          <a:p>
            <a:pPr>
              <a:spcAft>
                <a:spcPts val="1000"/>
              </a:spcAft>
              <a:defRPr sz="1600" b="1">
                <a:solidFill>
                  <a:srgbClr val="FB923C"/>
                </a:solidFill>
              </a:defRPr>
            </a:pPr>
            <a:r>
              <a:t>🧠 Psychological Exploitation</a:t>
            </a:r>
          </a:p>
          <a:p>
            <a:pPr>
              <a:spcAft>
                <a:spcPts val="800"/>
              </a:spcAft>
              <a:defRPr sz="1200">
                <a:solidFill>
                  <a:srgbClr val="F8FAFC"/>
                </a:solidFill>
              </a:defRPr>
            </a:pPr>
            <a:r>
              <a:t>• Scammers engineer acute panic: 'Your account will be suspended in 10 minutes!'</a:t>
            </a:r>
          </a:p>
          <a:p>
            <a:pPr>
              <a:spcAft>
                <a:spcPts val="800"/>
              </a:spcAft>
              <a:defRPr sz="1200">
                <a:solidFill>
                  <a:srgbClr val="F8FAFC"/>
                </a:solidFill>
              </a:defRPr>
            </a:pPr>
            <a:r>
              <a:t>• Fake Authority: Impersonating police, central banks, customs, and telecom officials.</a:t>
            </a:r>
          </a:p>
          <a:p>
            <a:pPr>
              <a:spcAft>
                <a:spcPts val="800"/>
              </a:spcAft>
              <a:defRPr sz="1200">
                <a:solidFill>
                  <a:srgbClr val="F8FAFC"/>
                </a:solidFill>
              </a:defRPr>
            </a:pPr>
            <a:r>
              <a:t>• High cognitive overload renders traditional advice ineffective in the moment.</a:t>
            </a:r>
          </a:p>
        </p:txBody>
      </p:sp>
      <p:sp>
        <p:nvSpPr>
          <p:cNvPr id="10" name="Rounded Rectangle 9"/>
          <p:cNvSpPr/>
          <p:nvPr/>
        </p:nvSpPr>
        <p:spPr>
          <a:xfrm>
            <a:off x="8046720" y="2011680"/>
            <a:ext cx="3291840" cy="41148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2194560"/>
            <a:ext cx="2834640" cy="3749040"/>
          </a:xfrm>
          <a:prstGeom prst="rect">
            <a:avLst/>
          </a:prstGeom>
          <a:noFill/>
        </p:spPr>
        <p:txBody>
          <a:bodyPr wrap="square" lIns="0" tIns="0" rIns="0" bIns="0">
            <a:spAutoFit/>
          </a:bodyPr>
          <a:lstStyle/>
          <a:p>
            <a:pPr>
              <a:spcAft>
                <a:spcPts val="1000"/>
              </a:spcAft>
              <a:defRPr sz="1600" b="1">
                <a:solidFill>
                  <a:srgbClr val="38BDF8"/>
                </a:solidFill>
              </a:defRPr>
            </a:pPr>
            <a:r>
              <a:t>🔒 Enforced Social Isolation</a:t>
            </a:r>
          </a:p>
          <a:p>
            <a:pPr>
              <a:spcAft>
                <a:spcPts val="800"/>
              </a:spcAft>
              <a:defRPr sz="1200">
                <a:solidFill>
                  <a:srgbClr val="F8FAFC"/>
                </a:solidFill>
              </a:defRPr>
            </a:pPr>
            <a:r>
              <a:t>• Scammers enforce secrecy: 'Do not tell your children or you will face immediate arrest.'</a:t>
            </a:r>
          </a:p>
          <a:p>
            <a:pPr>
              <a:spcAft>
                <a:spcPts val="800"/>
              </a:spcAft>
              <a:defRPr sz="1200">
                <a:solidFill>
                  <a:srgbClr val="F8FAFC"/>
                </a:solidFill>
              </a:defRPr>
            </a:pPr>
            <a:r>
              <a:t>• The victim is kept on the line continuously to block second opinions.</a:t>
            </a:r>
          </a:p>
          <a:p>
            <a:pPr>
              <a:spcAft>
                <a:spcPts val="800"/>
              </a:spcAft>
              <a:defRPr sz="1200">
                <a:solidFill>
                  <a:srgbClr val="F8FAFC"/>
                </a:solidFill>
              </a:defRPr>
            </a:pPr>
            <a:r>
              <a:t>• Seniors face high-stakes intimidation completely alone.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defRPr>
            </a:pPr>
            <a:r>
              <a:t>DEFENSE GAP</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600" b="1">
                <a:solidFill>
                  <a:srgbClr val="F8FAFC"/>
                </a:solidFill>
              </a:defRPr>
            </a:pPr>
            <a:r>
              <a:t>Why Existing Defenses Fall Short</a:t>
            </a:r>
          </a:p>
        </p:txBody>
      </p:sp>
      <p:sp>
        <p:nvSpPr>
          <p:cNvPr id="5" name="TextBox 4"/>
          <p:cNvSpPr txBox="1"/>
          <p:nvPr/>
        </p:nvSpPr>
        <p:spPr>
          <a:xfrm>
            <a:off x="731520" y="1325880"/>
            <a:ext cx="10698480" cy="365760"/>
          </a:xfrm>
          <a:prstGeom prst="rect">
            <a:avLst/>
          </a:prstGeom>
          <a:noFill/>
        </p:spPr>
        <p:txBody>
          <a:bodyPr wrap="square" lIns="0" tIns="0" rIns="0" bIns="0">
            <a:spAutoFit/>
          </a:bodyPr>
          <a:lstStyle/>
          <a:p>
            <a:pPr>
              <a:defRPr sz="1400">
                <a:solidFill>
                  <a:srgbClr val="94A3B8"/>
                </a:solidFill>
              </a:defRPr>
            </a:pPr>
            <a:r>
              <a:t>Static phone number lookups and cloud-recording architectures cannot solve live phone fraud.</a:t>
            </a:r>
          </a:p>
        </p:txBody>
      </p:sp>
      <p:sp>
        <p:nvSpPr>
          <p:cNvPr id="6" name="Rounded Rectangle 5"/>
          <p:cNvSpPr/>
          <p:nvPr/>
        </p:nvSpPr>
        <p:spPr>
          <a:xfrm>
            <a:off x="731520" y="2011680"/>
            <a:ext cx="3291840" cy="41148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94560"/>
            <a:ext cx="2834640" cy="3749040"/>
          </a:xfrm>
          <a:prstGeom prst="rect">
            <a:avLst/>
          </a:prstGeom>
          <a:noFill/>
        </p:spPr>
        <p:txBody>
          <a:bodyPr wrap="square" lIns="0" tIns="0" rIns="0" bIns="0">
            <a:spAutoFit/>
          </a:bodyPr>
          <a:lstStyle/>
          <a:p>
            <a:pPr>
              <a:spcAft>
                <a:spcPts val="1000"/>
              </a:spcAft>
              <a:defRPr sz="1600" b="1">
                <a:solidFill>
                  <a:srgbClr val="F43F5E"/>
                </a:solidFill>
              </a:defRPr>
            </a:pPr>
            <a:r>
              <a:t>❌ Static Caller ID Blacklists</a:t>
            </a:r>
          </a:p>
          <a:p>
            <a:pPr>
              <a:spcAft>
                <a:spcPts val="800"/>
              </a:spcAft>
              <a:defRPr sz="1200">
                <a:solidFill>
                  <a:srgbClr val="F8FAFC"/>
                </a:solidFill>
              </a:defRPr>
            </a:pPr>
            <a:r>
              <a:t>• Apps like Truecaller rely on historical crowdsourced reports.</a:t>
            </a:r>
          </a:p>
          <a:p>
            <a:pPr>
              <a:spcAft>
                <a:spcPts val="800"/>
              </a:spcAft>
              <a:defRPr sz="1200">
                <a:solidFill>
                  <a:srgbClr val="F8FAFC"/>
                </a:solidFill>
              </a:defRPr>
            </a:pPr>
            <a:r>
              <a:t>• Useless against VoIP spoofing, SIM swaps, and freshly purchased burner numbers.</a:t>
            </a:r>
          </a:p>
          <a:p>
            <a:pPr>
              <a:spcAft>
                <a:spcPts val="800"/>
              </a:spcAft>
              <a:defRPr sz="1200">
                <a:solidFill>
                  <a:srgbClr val="F8FAFC"/>
                </a:solidFill>
              </a:defRPr>
            </a:pPr>
            <a:r>
              <a:t>• The first hundreds of victims are already defrauded before a number is flagged.</a:t>
            </a:r>
          </a:p>
        </p:txBody>
      </p:sp>
      <p:sp>
        <p:nvSpPr>
          <p:cNvPr id="8" name="Rounded Rectangle 7"/>
          <p:cNvSpPr/>
          <p:nvPr/>
        </p:nvSpPr>
        <p:spPr>
          <a:xfrm>
            <a:off x="4389120" y="2011680"/>
            <a:ext cx="3291840" cy="41148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17720" y="2194560"/>
            <a:ext cx="2834640" cy="3749040"/>
          </a:xfrm>
          <a:prstGeom prst="rect">
            <a:avLst/>
          </a:prstGeom>
          <a:noFill/>
        </p:spPr>
        <p:txBody>
          <a:bodyPr wrap="square" lIns="0" tIns="0" rIns="0" bIns="0">
            <a:spAutoFit/>
          </a:bodyPr>
          <a:lstStyle/>
          <a:p>
            <a:pPr>
              <a:spcAft>
                <a:spcPts val="1000"/>
              </a:spcAft>
              <a:defRPr sz="1600" b="1">
                <a:solidFill>
                  <a:srgbClr val="FB923C"/>
                </a:solidFill>
              </a:defRPr>
            </a:pPr>
            <a:r>
              <a:t>❌ Post-Mortem Bank Alerts</a:t>
            </a:r>
          </a:p>
          <a:p>
            <a:pPr>
              <a:spcAft>
                <a:spcPts val="800"/>
              </a:spcAft>
              <a:defRPr sz="1200">
                <a:solidFill>
                  <a:srgbClr val="F8FAFC"/>
                </a:solidFill>
              </a:defRPr>
            </a:pPr>
            <a:r>
              <a:t>• SMS security alerts arrive after the transaction is executed.</a:t>
            </a:r>
          </a:p>
          <a:p>
            <a:pPr>
              <a:spcAft>
                <a:spcPts val="800"/>
              </a:spcAft>
              <a:defRPr sz="1200">
                <a:solidFill>
                  <a:srgbClr val="F8FAFC"/>
                </a:solidFill>
              </a:defRPr>
            </a:pPr>
            <a:r>
              <a:t>• Victims are pressured to bypass 2FA by reading out OTPs under duress.</a:t>
            </a:r>
          </a:p>
          <a:p>
            <a:pPr>
              <a:spcAft>
                <a:spcPts val="800"/>
              </a:spcAft>
              <a:defRPr sz="1200">
                <a:solidFill>
                  <a:srgbClr val="F8FAFC"/>
                </a:solidFill>
              </a:defRPr>
            </a:pPr>
            <a:r>
              <a:t>• Reactive transaction freezes are too late to stop instant wire transfers.</a:t>
            </a:r>
          </a:p>
        </p:txBody>
      </p:sp>
      <p:sp>
        <p:nvSpPr>
          <p:cNvPr id="10" name="Rounded Rectangle 9"/>
          <p:cNvSpPr/>
          <p:nvPr/>
        </p:nvSpPr>
        <p:spPr>
          <a:xfrm>
            <a:off x="8046720" y="2011680"/>
            <a:ext cx="3291840" cy="41148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2194560"/>
            <a:ext cx="2834640" cy="3749040"/>
          </a:xfrm>
          <a:prstGeom prst="rect">
            <a:avLst/>
          </a:prstGeom>
          <a:noFill/>
        </p:spPr>
        <p:txBody>
          <a:bodyPr wrap="square" lIns="0" tIns="0" rIns="0" bIns="0">
            <a:spAutoFit/>
          </a:bodyPr>
          <a:lstStyle/>
          <a:p>
            <a:pPr>
              <a:spcAft>
                <a:spcPts val="1000"/>
              </a:spcAft>
              <a:defRPr sz="1600" b="1">
                <a:solidFill>
                  <a:srgbClr val="38BDF8"/>
                </a:solidFill>
              </a:defRPr>
            </a:pPr>
            <a:r>
              <a:t>❌ Cloud Recording Violations</a:t>
            </a:r>
          </a:p>
          <a:p>
            <a:pPr>
              <a:spcAft>
                <a:spcPts val="800"/>
              </a:spcAft>
              <a:defRPr sz="1200">
                <a:solidFill>
                  <a:srgbClr val="F8FAFC"/>
                </a:solidFill>
              </a:defRPr>
            </a:pPr>
            <a:r>
              <a:t>• Cloud call recorders violate wiretap and telecommunications privacy laws.</a:t>
            </a:r>
          </a:p>
          <a:p>
            <a:pPr>
              <a:spcAft>
                <a:spcPts val="800"/>
              </a:spcAft>
              <a:defRPr sz="1200">
                <a:solidFill>
                  <a:srgbClr val="F8FAFC"/>
                </a:solidFill>
              </a:defRPr>
            </a:pPr>
            <a:r>
              <a:t>• Uploading audio or transcripts creates extreme liability and user mistrust.</a:t>
            </a:r>
          </a:p>
          <a:p>
            <a:pPr>
              <a:spcAft>
                <a:spcPts val="800"/>
              </a:spcAft>
              <a:defRPr sz="1200">
                <a:solidFill>
                  <a:srgbClr val="F8FAFC"/>
                </a:solidFill>
              </a:defRPr>
            </a:pPr>
            <a:r>
              <a:t>• Seniors refuse intrusive surveillance software that monitors personal life.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defRPr>
            </a:pPr>
            <a:r>
              <a:t>PROPOSED SOLUTION</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600" b="1">
                <a:solidFill>
                  <a:srgbClr val="F8FAFC"/>
                </a:solidFill>
              </a:defRPr>
            </a:pPr>
            <a:r>
              <a:t>The Solution: Behavioral Intent Recognition</a:t>
            </a:r>
          </a:p>
        </p:txBody>
      </p:sp>
      <p:sp>
        <p:nvSpPr>
          <p:cNvPr id="5" name="TextBox 4"/>
          <p:cNvSpPr txBox="1"/>
          <p:nvPr/>
        </p:nvSpPr>
        <p:spPr>
          <a:xfrm>
            <a:off x="731520" y="1325880"/>
            <a:ext cx="10698480" cy="365760"/>
          </a:xfrm>
          <a:prstGeom prst="rect">
            <a:avLst/>
          </a:prstGeom>
          <a:noFill/>
        </p:spPr>
        <p:txBody>
          <a:bodyPr wrap="square" lIns="0" tIns="0" rIns="0" bIns="0">
            <a:spAutoFit/>
          </a:bodyPr>
          <a:lstStyle/>
          <a:p>
            <a:pPr>
              <a:defRPr sz="1400">
                <a:solidFill>
                  <a:srgbClr val="94A3B8"/>
                </a:solidFill>
              </a:defRPr>
            </a:pPr>
            <a:r>
              <a:t>Shifting scam defense from 'Who is calling?' to 'What are they psychologically attempting to do?'</a:t>
            </a:r>
          </a:p>
        </p:txBody>
      </p:sp>
      <p:sp>
        <p:nvSpPr>
          <p:cNvPr id="6" name="Rounded Rectangle 5"/>
          <p:cNvSpPr/>
          <p:nvPr/>
        </p:nvSpPr>
        <p:spPr>
          <a:xfrm>
            <a:off x="731520" y="2011680"/>
            <a:ext cx="6858000" cy="41148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94560"/>
            <a:ext cx="6400800" cy="3749040"/>
          </a:xfrm>
          <a:prstGeom prst="rect">
            <a:avLst/>
          </a:prstGeom>
          <a:noFill/>
        </p:spPr>
        <p:txBody>
          <a:bodyPr wrap="square" lIns="0" tIns="0" rIns="0" bIns="0">
            <a:spAutoFit/>
          </a:bodyPr>
          <a:lstStyle/>
          <a:p>
            <a:pPr>
              <a:spcAft>
                <a:spcPts val="1000"/>
              </a:spcAft>
              <a:defRPr sz="1600" b="1">
                <a:solidFill>
                  <a:srgbClr val="34D399"/>
                </a:solidFill>
              </a:defRPr>
            </a:pPr>
            <a:r>
              <a:t>🛡️ GuardCall: Real-Time Protective Shield</a:t>
            </a:r>
          </a:p>
          <a:p>
            <a:pPr>
              <a:spcAft>
                <a:spcPts val="800"/>
              </a:spcAft>
              <a:defRPr sz="1200">
                <a:solidFill>
                  <a:srgbClr val="F8FAFC"/>
                </a:solidFill>
              </a:defRPr>
            </a:pPr>
            <a:r>
              <a:t>1. Behavioral Signal Detection: Identifies manipulation markers (urgency, legal threats, authority impersonation, credential harvesting) in real time.</a:t>
            </a:r>
          </a:p>
          <a:p>
            <a:pPr>
              <a:spcAft>
                <a:spcPts val="800"/>
              </a:spcAft>
              <a:defRPr sz="1200">
                <a:solidFill>
                  <a:srgbClr val="F8FAFC"/>
                </a:solidFill>
              </a:defRPr>
            </a:pPr>
            <a:r>
              <a:t>2. Explainable Threat Scoring: Categorizes risk into 4 clear tiers (Safe, Suspicious, High Risk, Critical Threat) with plain-language rationales.</a:t>
            </a:r>
          </a:p>
          <a:p>
            <a:pPr>
              <a:spcAft>
                <a:spcPts val="800"/>
              </a:spcAft>
              <a:defRPr sz="1200">
                <a:solidFill>
                  <a:srgbClr val="F8FAFC"/>
                </a:solidFill>
              </a:defRPr>
            </a:pPr>
            <a:r>
              <a:t>3. Proactive Senior HUD: Interrupts high-pressure calls with high-contrast, accessible warnings giving simple actions: 'END CALL' or 'ALERT FAMILY'.</a:t>
            </a:r>
          </a:p>
          <a:p>
            <a:pPr>
              <a:spcAft>
                <a:spcPts val="800"/>
              </a:spcAft>
              <a:defRPr sz="1200">
                <a:solidFill>
                  <a:srgbClr val="F8FAFC"/>
                </a:solidFill>
              </a:defRPr>
            </a:pPr>
            <a:r>
              <a:t>4. Family Circle Escalation: Relays structured threat telemetry directly to designated caregivers without exposing the elder's private conversation.</a:t>
            </a:r>
          </a:p>
          <a:p>
            <a:pPr>
              <a:spcAft>
                <a:spcPts val="800"/>
              </a:spcAft>
              <a:defRPr sz="1200">
                <a:solidFill>
                  <a:srgbClr val="F8FAFC"/>
                </a:solidFill>
              </a:defRPr>
            </a:pPr>
            <a:r>
              <a:t>5. False-Positive Immunity: Differentiates legitimate banking advisories from coercive phishing.</a:t>
            </a:r>
          </a:p>
        </p:txBody>
      </p:sp>
      <p:pic>
        <p:nvPicPr>
          <p:cNvPr id="8" name="Picture 7" descr="sample_alert_detail.png"/>
          <p:cNvPicPr>
            <a:picLocks noChangeAspect="1"/>
          </p:cNvPicPr>
          <p:nvPr/>
        </p:nvPicPr>
        <p:blipFill>
          <a:blip r:embed="rId3"/>
          <a:stretch>
            <a:fillRect/>
          </a:stretch>
        </p:blipFill>
        <p:spPr>
          <a:xfrm>
            <a:off x="8046720" y="1645920"/>
            <a:ext cx="3383280" cy="7518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defRPr>
            </a:pPr>
            <a:r>
              <a:t>SYSTEM ARCHITECTURE</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600" b="1">
                <a:solidFill>
                  <a:srgbClr val="F8FAFC"/>
                </a:solidFill>
              </a:defRPr>
            </a:pPr>
            <a:r>
              <a:t>End-to-End System Architecture</a:t>
            </a:r>
          </a:p>
        </p:txBody>
      </p:sp>
      <p:sp>
        <p:nvSpPr>
          <p:cNvPr id="5" name="TextBox 4"/>
          <p:cNvSpPr txBox="1"/>
          <p:nvPr/>
        </p:nvSpPr>
        <p:spPr>
          <a:xfrm>
            <a:off x="731520" y="1325880"/>
            <a:ext cx="10698480" cy="365760"/>
          </a:xfrm>
          <a:prstGeom prst="rect">
            <a:avLst/>
          </a:prstGeom>
          <a:noFill/>
        </p:spPr>
        <p:txBody>
          <a:bodyPr wrap="square" lIns="0" tIns="0" rIns="0" bIns="0">
            <a:spAutoFit/>
          </a:bodyPr>
          <a:lstStyle/>
          <a:p>
            <a:pPr>
              <a:defRPr sz="1400">
                <a:solidFill>
                  <a:srgbClr val="94A3B8"/>
                </a:solidFill>
              </a:defRPr>
            </a:pPr>
            <a:r>
              <a:t>Transient in-memory speech evaluation orchestrated with zero disk caching.</a:t>
            </a:r>
          </a:p>
        </p:txBody>
      </p:sp>
      <p:sp>
        <p:nvSpPr>
          <p:cNvPr id="6" name="Rounded Rectangle 5"/>
          <p:cNvSpPr/>
          <p:nvPr/>
        </p:nvSpPr>
        <p:spPr>
          <a:xfrm>
            <a:off x="731520" y="2011680"/>
            <a:ext cx="3291840" cy="192024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94560"/>
            <a:ext cx="2834640" cy="1554480"/>
          </a:xfrm>
          <a:prstGeom prst="rect">
            <a:avLst/>
          </a:prstGeom>
          <a:noFill/>
        </p:spPr>
        <p:txBody>
          <a:bodyPr wrap="square" lIns="0" tIns="0" rIns="0" bIns="0">
            <a:spAutoFit/>
          </a:bodyPr>
          <a:lstStyle/>
          <a:p>
            <a:pPr>
              <a:spcAft>
                <a:spcPts val="1000"/>
              </a:spcAft>
              <a:defRPr sz="1600" b="1">
                <a:solidFill>
                  <a:srgbClr val="38BDF8"/>
                </a:solidFill>
              </a:defRPr>
            </a:pPr>
            <a:r>
              <a:t>1. Audio Ingestion</a:t>
            </a:r>
          </a:p>
          <a:p>
            <a:pPr>
              <a:spcAft>
                <a:spcPts val="800"/>
              </a:spcAft>
              <a:defRPr sz="1200">
                <a:solidFill>
                  <a:srgbClr val="F8FAFC"/>
                </a:solidFill>
              </a:defRPr>
            </a:pPr>
            <a:r>
              <a:t>• Transient in-memory audio buffers.</a:t>
            </a:r>
          </a:p>
          <a:p>
            <a:pPr>
              <a:spcAft>
                <a:spcPts val="800"/>
              </a:spcAft>
              <a:defRPr sz="1200">
                <a:solidFill>
                  <a:srgbClr val="F8FAFC"/>
                </a:solidFill>
              </a:defRPr>
            </a:pPr>
            <a:r>
              <a:t>• Zero audio files stored on device disk.</a:t>
            </a:r>
          </a:p>
          <a:p>
            <a:pPr>
              <a:spcAft>
                <a:spcPts val="800"/>
              </a:spcAft>
              <a:defRPr sz="1200">
                <a:solidFill>
                  <a:srgbClr val="F8FAFC"/>
                </a:solidFill>
              </a:defRPr>
            </a:pPr>
            <a:r>
              <a:t>• Compliant with OS security boundaries.</a:t>
            </a:r>
          </a:p>
        </p:txBody>
      </p:sp>
      <p:sp>
        <p:nvSpPr>
          <p:cNvPr id="8" name="Rounded Rectangle 7"/>
          <p:cNvSpPr/>
          <p:nvPr/>
        </p:nvSpPr>
        <p:spPr>
          <a:xfrm>
            <a:off x="4389120" y="2011680"/>
            <a:ext cx="3291840" cy="192024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17720" y="2194560"/>
            <a:ext cx="2834640" cy="1554480"/>
          </a:xfrm>
          <a:prstGeom prst="rect">
            <a:avLst/>
          </a:prstGeom>
          <a:noFill/>
        </p:spPr>
        <p:txBody>
          <a:bodyPr wrap="square" lIns="0" tIns="0" rIns="0" bIns="0">
            <a:spAutoFit/>
          </a:bodyPr>
          <a:lstStyle/>
          <a:p>
            <a:pPr>
              <a:spcAft>
                <a:spcPts val="1000"/>
              </a:spcAft>
              <a:defRPr sz="1600" b="1">
                <a:solidFill>
                  <a:srgbClr val="38BDF8"/>
                </a:solidFill>
              </a:defRPr>
            </a:pPr>
            <a:r>
              <a:t>2. Transient Speech-to-Text</a:t>
            </a:r>
          </a:p>
          <a:p>
            <a:pPr>
              <a:spcAft>
                <a:spcPts val="800"/>
              </a:spcAft>
              <a:defRPr sz="1200">
                <a:solidFill>
                  <a:srgbClr val="F8FAFC"/>
                </a:solidFill>
              </a:defRPr>
            </a:pPr>
            <a:r>
              <a:t>• Abstracted SpeechToTextService layer.</a:t>
            </a:r>
          </a:p>
          <a:p>
            <a:pPr>
              <a:spcAft>
                <a:spcPts val="800"/>
              </a:spcAft>
              <a:defRPr sz="1200">
                <a:solidFill>
                  <a:srgbClr val="F8FAFC"/>
                </a:solidFill>
              </a:defRPr>
            </a:pPr>
            <a:r>
              <a:t>• Converts dialogue to short conversational chunks.</a:t>
            </a:r>
          </a:p>
          <a:p>
            <a:pPr>
              <a:spcAft>
                <a:spcPts val="800"/>
              </a:spcAft>
              <a:defRPr sz="1200">
                <a:solidFill>
                  <a:srgbClr val="F8FAFC"/>
                </a:solidFill>
              </a:defRPr>
            </a:pPr>
            <a:r>
              <a:t>• Flushed immediately from RAM.</a:t>
            </a:r>
          </a:p>
        </p:txBody>
      </p:sp>
      <p:sp>
        <p:nvSpPr>
          <p:cNvPr id="10" name="Rounded Rectangle 9"/>
          <p:cNvSpPr/>
          <p:nvPr/>
        </p:nvSpPr>
        <p:spPr>
          <a:xfrm>
            <a:off x="8046720" y="2011680"/>
            <a:ext cx="3291840" cy="192024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2194560"/>
            <a:ext cx="2834640" cy="1554480"/>
          </a:xfrm>
          <a:prstGeom prst="rect">
            <a:avLst/>
          </a:prstGeom>
          <a:noFill/>
        </p:spPr>
        <p:txBody>
          <a:bodyPr wrap="square" lIns="0" tIns="0" rIns="0" bIns="0">
            <a:spAutoFit/>
          </a:bodyPr>
          <a:lstStyle/>
          <a:p>
            <a:pPr>
              <a:spcAft>
                <a:spcPts val="1000"/>
              </a:spcAft>
              <a:defRPr sz="1600" b="1">
                <a:solidFill>
                  <a:srgbClr val="38BDF8"/>
                </a:solidFill>
              </a:defRPr>
            </a:pPr>
            <a:r>
              <a:t>3. Detection Engine</a:t>
            </a:r>
          </a:p>
          <a:p>
            <a:pPr>
              <a:spcAft>
                <a:spcPts val="800"/>
              </a:spcAft>
              <a:defRPr sz="1200">
                <a:solidFill>
                  <a:srgbClr val="F8FAFC"/>
                </a:solidFill>
              </a:defRPr>
            </a:pPr>
            <a:r>
              <a:t>• Multi-turn compounding heuristic analysis.</a:t>
            </a:r>
          </a:p>
          <a:p>
            <a:pPr>
              <a:spcAft>
                <a:spcPts val="800"/>
              </a:spcAft>
              <a:defRPr sz="1200">
                <a:solidFill>
                  <a:srgbClr val="F8FAFC"/>
                </a:solidFill>
              </a:defRPr>
            </a:pPr>
            <a:r>
              <a:t>• Context-aware banking filters.</a:t>
            </a:r>
          </a:p>
          <a:p>
            <a:pPr>
              <a:spcAft>
                <a:spcPts val="800"/>
              </a:spcAft>
              <a:defRPr sz="1200">
                <a:solidFill>
                  <a:srgbClr val="F8FAFC"/>
                </a:solidFill>
              </a:defRPr>
            </a:pPr>
            <a:r>
              <a:t>• Sequence escalation tracking.</a:t>
            </a:r>
          </a:p>
        </p:txBody>
      </p:sp>
      <p:sp>
        <p:nvSpPr>
          <p:cNvPr id="12" name="Rounded Rectangle 11"/>
          <p:cNvSpPr/>
          <p:nvPr/>
        </p:nvSpPr>
        <p:spPr>
          <a:xfrm>
            <a:off x="731520" y="4206240"/>
            <a:ext cx="5120640" cy="192024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4389120"/>
            <a:ext cx="4663440" cy="1554480"/>
          </a:xfrm>
          <a:prstGeom prst="rect">
            <a:avLst/>
          </a:prstGeom>
          <a:noFill/>
        </p:spPr>
        <p:txBody>
          <a:bodyPr wrap="square" lIns="0" tIns="0" rIns="0" bIns="0">
            <a:spAutoFit/>
          </a:bodyPr>
          <a:lstStyle/>
          <a:p>
            <a:pPr>
              <a:spcAft>
                <a:spcPts val="1000"/>
              </a:spcAft>
              <a:defRPr sz="1600" b="1">
                <a:solidFill>
                  <a:srgbClr val="FB923C"/>
                </a:solidFill>
              </a:defRPr>
            </a:pPr>
            <a:r>
              <a:t>4. Harmonized Risk Tiering (0-100)</a:t>
            </a:r>
          </a:p>
          <a:p>
            <a:pPr>
              <a:spcAft>
                <a:spcPts val="800"/>
              </a:spcAft>
              <a:defRPr sz="1200">
                <a:solidFill>
                  <a:srgbClr val="F8FAFC"/>
                </a:solidFill>
              </a:defRPr>
            </a:pPr>
            <a:r>
              <a:t>• 0–39: Safe (No action)</a:t>
            </a:r>
          </a:p>
          <a:p>
            <a:pPr>
              <a:spcAft>
                <a:spcPts val="800"/>
              </a:spcAft>
              <a:defRPr sz="1200">
                <a:solidFill>
                  <a:srgbClr val="F8FAFC"/>
                </a:solidFill>
              </a:defRPr>
            </a:pPr>
            <a:r>
              <a:t>• 40–70: Suspicious (Elevated awareness)</a:t>
            </a:r>
          </a:p>
          <a:p>
            <a:pPr>
              <a:spcAft>
                <a:spcPts val="800"/>
              </a:spcAft>
              <a:defRPr sz="1200">
                <a:solidFill>
                  <a:srgbClr val="F8FAFC"/>
                </a:solidFill>
              </a:defRPr>
            </a:pPr>
            <a:r>
              <a:t>• 71–84: High Risk (Senior Warning HUD popup)</a:t>
            </a:r>
          </a:p>
          <a:p>
            <a:pPr>
              <a:spcAft>
                <a:spcPts val="800"/>
              </a:spcAft>
              <a:defRPr sz="1200">
                <a:solidFill>
                  <a:srgbClr val="F8FAFC"/>
                </a:solidFill>
              </a:defRPr>
            </a:pPr>
            <a:r>
              <a:t>• 85–100: Critical Threat (Immediate escalation &amp; siren)</a:t>
            </a:r>
          </a:p>
        </p:txBody>
      </p:sp>
      <p:sp>
        <p:nvSpPr>
          <p:cNvPr id="14" name="Rounded Rectangle 13"/>
          <p:cNvSpPr/>
          <p:nvPr/>
        </p:nvSpPr>
        <p:spPr>
          <a:xfrm>
            <a:off x="6217920" y="4206240"/>
            <a:ext cx="5120640" cy="192024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46520" y="4389120"/>
            <a:ext cx="4663440" cy="1554480"/>
          </a:xfrm>
          <a:prstGeom prst="rect">
            <a:avLst/>
          </a:prstGeom>
          <a:noFill/>
        </p:spPr>
        <p:txBody>
          <a:bodyPr wrap="square" lIns="0" tIns="0" rIns="0" bIns="0">
            <a:spAutoFit/>
          </a:bodyPr>
          <a:lstStyle/>
          <a:p>
            <a:pPr>
              <a:spcAft>
                <a:spcPts val="1000"/>
              </a:spcAft>
              <a:defRPr sz="1600" b="1">
                <a:solidFill>
                  <a:srgbClr val="34D399"/>
                </a:solidFill>
              </a:defRPr>
            </a:pPr>
            <a:r>
              <a:t>5. Dual-Action Delivery</a:t>
            </a:r>
          </a:p>
          <a:p>
            <a:pPr>
              <a:spcAft>
                <a:spcPts val="800"/>
              </a:spcAft>
              <a:defRPr sz="1200">
                <a:solidFill>
                  <a:srgbClr val="F8FAFC"/>
                </a:solidFill>
              </a:defRPr>
            </a:pPr>
            <a:r>
              <a:t>• Senior Intervention: High-contrast HUD dialog with 'End Call'.</a:t>
            </a:r>
          </a:p>
          <a:p>
            <a:pPr>
              <a:spcAft>
                <a:spcPts val="800"/>
              </a:spcAft>
              <a:defRPr sz="1200">
                <a:solidFill>
                  <a:srgbClr val="F8FAFC"/>
                </a:solidFill>
              </a:defRPr>
            </a:pPr>
            <a:r>
              <a:t>• Caregiver Circle: Relays structured threat metadata to family.</a:t>
            </a:r>
          </a:p>
          <a:p>
            <a:pPr>
              <a:spcAft>
                <a:spcPts val="800"/>
              </a:spcAft>
              <a:defRPr sz="1200">
                <a:solidFill>
                  <a:srgbClr val="F8FAFC"/>
                </a:solidFill>
              </a:defRPr>
            </a:pPr>
            <a:r>
              <a:t>• Zero personal transcript shared with anyone.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defRPr>
            </a:pPr>
            <a:r>
              <a:t>LIVE DEMO READINESS</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600" b="1">
                <a:solidFill>
                  <a:srgbClr val="F8FAFC"/>
                </a:solidFill>
              </a:defRPr>
            </a:pPr>
            <a:r>
              <a:t>Deterministic Demo Center &amp; Scenarios</a:t>
            </a:r>
          </a:p>
        </p:txBody>
      </p:sp>
      <p:sp>
        <p:nvSpPr>
          <p:cNvPr id="5" name="TextBox 4"/>
          <p:cNvSpPr txBox="1"/>
          <p:nvPr/>
        </p:nvSpPr>
        <p:spPr>
          <a:xfrm>
            <a:off x="731520" y="1325880"/>
            <a:ext cx="10698480" cy="365760"/>
          </a:xfrm>
          <a:prstGeom prst="rect">
            <a:avLst/>
          </a:prstGeom>
          <a:noFill/>
        </p:spPr>
        <p:txBody>
          <a:bodyPr wrap="square" lIns="0" tIns="0" rIns="0" bIns="0">
            <a:spAutoFit/>
          </a:bodyPr>
          <a:lstStyle/>
          <a:p>
            <a:pPr>
              <a:defRPr sz="1400">
                <a:solidFill>
                  <a:srgbClr val="94A3B8"/>
                </a:solidFill>
              </a:defRPr>
            </a:pPr>
            <a:r>
              <a:t>100% offline, zero-network dependency built for reliable hackathon evaluation.</a:t>
            </a:r>
          </a:p>
        </p:txBody>
      </p:sp>
      <p:sp>
        <p:nvSpPr>
          <p:cNvPr id="6" name="Rounded Rectangle 5"/>
          <p:cNvSpPr/>
          <p:nvPr/>
        </p:nvSpPr>
        <p:spPr>
          <a:xfrm>
            <a:off x="731520" y="2011680"/>
            <a:ext cx="6858000" cy="41148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94560"/>
            <a:ext cx="6400800" cy="3749040"/>
          </a:xfrm>
          <a:prstGeom prst="rect">
            <a:avLst/>
          </a:prstGeom>
          <a:noFill/>
        </p:spPr>
        <p:txBody>
          <a:bodyPr wrap="square" lIns="0" tIns="0" rIns="0" bIns="0">
            <a:spAutoFit/>
          </a:bodyPr>
          <a:lstStyle/>
          <a:p>
            <a:pPr>
              <a:spcAft>
                <a:spcPts val="1000"/>
              </a:spcAft>
              <a:defRPr sz="1600" b="1">
                <a:solidFill>
                  <a:srgbClr val="38BDF8"/>
                </a:solidFill>
              </a:defRPr>
            </a:pPr>
            <a:r>
              <a:t>🧪 5 Scripted Multi-Turn Scenarios</a:t>
            </a:r>
          </a:p>
          <a:p>
            <a:pPr>
              <a:spcAft>
                <a:spcPts val="800"/>
              </a:spcAft>
              <a:defRPr sz="1200">
                <a:solidFill>
                  <a:srgbClr val="F8FAFC"/>
                </a:solidFill>
              </a:defRPr>
            </a:pPr>
            <a:r>
              <a:t>1. Fake KYC Update (Banking Impersonation):</a:t>
            </a:r>
          </a:p>
          <a:p>
            <a:pPr>
              <a:spcAft>
                <a:spcPts val="800"/>
              </a:spcAft>
              <a:defRPr sz="1200">
                <a:solidFill>
                  <a:srgbClr val="F8FAFC"/>
                </a:solidFill>
              </a:defRPr>
            </a:pPr>
            <a:r>
              <a:t>   Escalates urgency ('Account blocked in 10 mins') ➔ OTP demand ➔ Surges to 75 / 100 High Risk.</a:t>
            </a:r>
          </a:p>
          <a:p>
            <a:pPr>
              <a:spcAft>
                <a:spcPts val="800"/>
              </a:spcAft>
              <a:defRPr sz="1200">
                <a:solidFill>
                  <a:srgbClr val="F8FAFC"/>
                </a:solidFill>
              </a:defRPr>
            </a:pPr>
            <a:r>
              <a:t>2. Digital Arrest Threat (Law Enforcement):</a:t>
            </a:r>
          </a:p>
          <a:p>
            <a:pPr>
              <a:spcAft>
                <a:spcPts val="800"/>
              </a:spcAft>
              <a:defRPr sz="1200">
                <a:solidFill>
                  <a:srgbClr val="F8FAFC"/>
                </a:solidFill>
              </a:defRPr>
            </a:pPr>
            <a:r>
              <a:t>   Fake police/customs intimidation claiming illegal parcel ➔ Surges to 90 / 100 Critical Threat.</a:t>
            </a:r>
          </a:p>
          <a:p>
            <a:pPr>
              <a:spcAft>
                <a:spcPts val="800"/>
              </a:spcAft>
              <a:defRPr sz="1200">
                <a:solidFill>
                  <a:srgbClr val="F8FAFC"/>
                </a:solidFill>
              </a:defRPr>
            </a:pPr>
            <a:r>
              <a:t>3. Grandchild Emergency (Distress Extortion):</a:t>
            </a:r>
          </a:p>
          <a:p>
            <a:pPr>
              <a:spcAft>
                <a:spcPts val="800"/>
              </a:spcAft>
              <a:defRPr sz="1200">
                <a:solidFill>
                  <a:srgbClr val="F8FAFC"/>
                </a:solidFill>
              </a:defRPr>
            </a:pPr>
            <a:r>
              <a:t>   Emotional panic claiming hospital emergency requiring urgent UPI transfer ➔ High Risk.</a:t>
            </a:r>
          </a:p>
          <a:p>
            <a:pPr>
              <a:spcAft>
                <a:spcPts val="800"/>
              </a:spcAft>
              <a:defRPr sz="1200">
                <a:solidFill>
                  <a:srgbClr val="F8FAFC"/>
                </a:solidFill>
              </a:defRPr>
            </a:pPr>
            <a:r>
              <a:t>4. Legitimate Bank Alert (BENCHMARK):</a:t>
            </a:r>
          </a:p>
          <a:p>
            <a:pPr>
              <a:spcAft>
                <a:spcPts val="800"/>
              </a:spcAft>
              <a:defRPr sz="1200">
                <a:solidFill>
                  <a:srgbClr val="F8FAFC"/>
                </a:solidFill>
              </a:defRPr>
            </a:pPr>
            <a:r>
              <a:t>   Official bank advisory: 'We never ask for OTP/PIN' ➔ Stays firmly at 0 / 100 Safe (Zero false positive).</a:t>
            </a:r>
          </a:p>
          <a:p>
            <a:pPr>
              <a:spcAft>
                <a:spcPts val="800"/>
              </a:spcAft>
              <a:defRPr sz="1200">
                <a:solidFill>
                  <a:srgbClr val="F8FAFC"/>
                </a:solidFill>
              </a:defRPr>
            </a:pPr>
            <a:r>
              <a:t>5. Hospital Appointment Reschedule: Routine clinical call ➔ 0 / 100 Safe.</a:t>
            </a:r>
          </a:p>
        </p:txBody>
      </p:sp>
      <p:pic>
        <p:nvPicPr>
          <p:cNvPr id="8" name="Picture 7" descr="sample_2_scenarios.png"/>
          <p:cNvPicPr>
            <a:picLocks noChangeAspect="1"/>
          </p:cNvPicPr>
          <p:nvPr/>
        </p:nvPicPr>
        <p:blipFill>
          <a:blip r:embed="rId3"/>
          <a:stretch>
            <a:fillRect/>
          </a:stretch>
        </p:blipFill>
        <p:spPr>
          <a:xfrm>
            <a:off x="8046720" y="1645920"/>
            <a:ext cx="3383280" cy="7518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defRPr>
            </a:pPr>
            <a:r>
              <a:t>PRIVACY &amp; ETHICS</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600" b="1">
                <a:solidFill>
                  <a:srgbClr val="F8FAFC"/>
                </a:solidFill>
              </a:defRPr>
            </a:pPr>
            <a:r>
              <a:t>Privacy-by-Design: Zero Audio, Zero Transcripts</a:t>
            </a:r>
          </a:p>
        </p:txBody>
      </p:sp>
      <p:sp>
        <p:nvSpPr>
          <p:cNvPr id="5" name="TextBox 4"/>
          <p:cNvSpPr txBox="1"/>
          <p:nvPr/>
        </p:nvSpPr>
        <p:spPr>
          <a:xfrm>
            <a:off x="731520" y="1325880"/>
            <a:ext cx="10698480" cy="365760"/>
          </a:xfrm>
          <a:prstGeom prst="rect">
            <a:avLst/>
          </a:prstGeom>
          <a:noFill/>
        </p:spPr>
        <p:txBody>
          <a:bodyPr wrap="square" lIns="0" tIns="0" rIns="0" bIns="0">
            <a:spAutoFit/>
          </a:bodyPr>
          <a:lstStyle/>
          <a:p>
            <a:pPr>
              <a:defRPr sz="1400">
                <a:solidFill>
                  <a:srgbClr val="94A3B8"/>
                </a:solidFill>
              </a:defRPr>
            </a:pPr>
            <a:r>
              <a:t>Protecting seniors from fraud without sacrificing their personal dignity or privacy.</a:t>
            </a:r>
          </a:p>
        </p:txBody>
      </p:sp>
      <p:sp>
        <p:nvSpPr>
          <p:cNvPr id="6" name="Rounded Rectangle 5"/>
          <p:cNvSpPr/>
          <p:nvPr/>
        </p:nvSpPr>
        <p:spPr>
          <a:xfrm>
            <a:off x="731520" y="2011680"/>
            <a:ext cx="5120640" cy="41148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94560"/>
            <a:ext cx="4663440" cy="3749040"/>
          </a:xfrm>
          <a:prstGeom prst="rect">
            <a:avLst/>
          </a:prstGeom>
          <a:noFill/>
        </p:spPr>
        <p:txBody>
          <a:bodyPr wrap="square" lIns="0" tIns="0" rIns="0" bIns="0">
            <a:spAutoFit/>
          </a:bodyPr>
          <a:lstStyle/>
          <a:p>
            <a:pPr>
              <a:spcAft>
                <a:spcPts val="1000"/>
              </a:spcAft>
              <a:defRPr sz="1600" b="1">
                <a:solidFill>
                  <a:srgbClr val="F43F5E"/>
                </a:solidFill>
              </a:defRPr>
            </a:pPr>
            <a:r>
              <a:t>🔒 What Stays 100% Private to Senior</a:t>
            </a:r>
          </a:p>
          <a:p>
            <a:pPr>
              <a:spcAft>
                <a:spcPts val="800"/>
              </a:spcAft>
              <a:defRPr sz="1200">
                <a:solidFill>
                  <a:srgbClr val="F8FAFC"/>
                </a:solidFill>
              </a:defRPr>
            </a:pPr>
            <a:r>
              <a:t>❌ ZERO Audio Recorded or Shared:</a:t>
            </a:r>
          </a:p>
          <a:p>
            <a:pPr>
              <a:spcAft>
                <a:spcPts val="800"/>
              </a:spcAft>
              <a:defRPr sz="1200">
                <a:solidFill>
                  <a:srgbClr val="F8FAFC"/>
                </a:solidFill>
              </a:defRPr>
            </a:pPr>
            <a:r>
              <a:t>   Microphone audio is never recorded, saved to disk, or streamed to caregivers.</a:t>
            </a:r>
          </a:p>
          <a:p>
            <a:pPr>
              <a:spcAft>
                <a:spcPts val="800"/>
              </a:spcAft>
              <a:defRPr sz="1200">
                <a:solidFill>
                  <a:srgbClr val="F8FAFC"/>
                </a:solidFill>
              </a:defRPr>
            </a:pPr>
            <a:endParaRPr/>
          </a:p>
          <a:p>
            <a:pPr>
              <a:spcAft>
                <a:spcPts val="800"/>
              </a:spcAft>
              <a:defRPr sz="1200">
                <a:solidFill>
                  <a:srgbClr val="F8FAFC"/>
                </a:solidFill>
              </a:defRPr>
            </a:pPr>
            <a:r>
              <a:t>❌ ZERO Conversation Transcripts:</a:t>
            </a:r>
          </a:p>
          <a:p>
            <a:pPr>
              <a:spcAft>
                <a:spcPts val="800"/>
              </a:spcAft>
              <a:defRPr sz="1200">
                <a:solidFill>
                  <a:srgbClr val="F8FAFC"/>
                </a:solidFill>
              </a:defRPr>
            </a:pPr>
            <a:r>
              <a:t>   Spoken words and sensitive dialogues are never saved or delivered in notifications.</a:t>
            </a:r>
          </a:p>
          <a:p>
            <a:pPr>
              <a:spcAft>
                <a:spcPts val="800"/>
              </a:spcAft>
              <a:defRPr sz="1200">
                <a:solidFill>
                  <a:srgbClr val="F8FAFC"/>
                </a:solidFill>
              </a:defRPr>
            </a:pPr>
            <a:endParaRPr/>
          </a:p>
          <a:p>
            <a:pPr>
              <a:spcAft>
                <a:spcPts val="800"/>
              </a:spcAft>
              <a:defRPr sz="1200">
                <a:solidFill>
                  <a:srgbClr val="F8FAFC"/>
                </a:solidFill>
              </a:defRPr>
            </a:pPr>
            <a:r>
              <a:t>❌ ZERO PII / Credential Storage:</a:t>
            </a:r>
          </a:p>
          <a:p>
            <a:pPr>
              <a:spcAft>
                <a:spcPts val="800"/>
              </a:spcAft>
              <a:defRPr sz="1200">
                <a:solidFill>
                  <a:srgbClr val="F8FAFC"/>
                </a:solidFill>
              </a:defRPr>
            </a:pPr>
            <a:r>
              <a:t>   OTPs, bank names, and passwords spoken during calls are never persisted.</a:t>
            </a:r>
          </a:p>
        </p:txBody>
      </p:sp>
      <p:sp>
        <p:nvSpPr>
          <p:cNvPr id="8" name="Rounded Rectangle 7"/>
          <p:cNvSpPr/>
          <p:nvPr/>
        </p:nvSpPr>
        <p:spPr>
          <a:xfrm>
            <a:off x="6217920" y="2011680"/>
            <a:ext cx="5120640" cy="41148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46520" y="2194560"/>
            <a:ext cx="4663440" cy="3749040"/>
          </a:xfrm>
          <a:prstGeom prst="rect">
            <a:avLst/>
          </a:prstGeom>
          <a:noFill/>
        </p:spPr>
        <p:txBody>
          <a:bodyPr wrap="square" lIns="0" tIns="0" rIns="0" bIns="0">
            <a:spAutoFit/>
          </a:bodyPr>
          <a:lstStyle/>
          <a:p>
            <a:pPr>
              <a:spcAft>
                <a:spcPts val="1000"/>
              </a:spcAft>
              <a:defRPr sz="1600" b="1">
                <a:solidFill>
                  <a:srgbClr val="34D399"/>
                </a:solidFill>
              </a:defRPr>
            </a:pPr>
            <a:r>
              <a:t>🛡️ What Caregivers Receive (Telemetry Only)</a:t>
            </a:r>
          </a:p>
          <a:p>
            <a:pPr>
              <a:spcAft>
                <a:spcPts val="800"/>
              </a:spcAft>
              <a:defRPr sz="1200">
                <a:solidFill>
                  <a:srgbClr val="F8FAFC"/>
                </a:solidFill>
              </a:defRPr>
            </a:pPr>
            <a:r>
              <a:t>✅ Mathematical Threat Score:</a:t>
            </a:r>
          </a:p>
          <a:p>
            <a:pPr>
              <a:spcAft>
                <a:spcPts val="800"/>
              </a:spcAft>
              <a:defRPr sz="1200">
                <a:solidFill>
                  <a:srgbClr val="F8FAFC"/>
                </a:solidFill>
              </a:defRPr>
            </a:pPr>
            <a:r>
              <a:t>   e.g. Risk Score: 75/100 (High Risk Threat).</a:t>
            </a:r>
          </a:p>
          <a:p>
            <a:pPr>
              <a:spcAft>
                <a:spcPts val="800"/>
              </a:spcAft>
              <a:defRPr sz="1200">
                <a:solidFill>
                  <a:srgbClr val="F8FAFC"/>
                </a:solidFill>
              </a:defRPr>
            </a:pPr>
            <a:endParaRPr/>
          </a:p>
          <a:p>
            <a:pPr>
              <a:spcAft>
                <a:spcPts val="800"/>
              </a:spcAft>
              <a:defRPr sz="1200">
                <a:solidFill>
                  <a:srgbClr val="F8FAFC"/>
                </a:solidFill>
              </a:defRPr>
            </a:pPr>
            <a:r>
              <a:t>✅ Behavioral Manipulation Tags:</a:t>
            </a:r>
          </a:p>
          <a:p>
            <a:pPr>
              <a:spcAft>
                <a:spcPts val="800"/>
              </a:spcAft>
              <a:defRPr sz="1200">
                <a:solidFill>
                  <a:srgbClr val="F8FAFC"/>
                </a:solidFill>
              </a:defRPr>
            </a:pPr>
            <a:r>
              <a:t>   e.g. ['Authority Impersonation', 'Urgency', 'OTP Demand'].</a:t>
            </a:r>
          </a:p>
          <a:p>
            <a:pPr>
              <a:spcAft>
                <a:spcPts val="800"/>
              </a:spcAft>
              <a:defRPr sz="1200">
                <a:solidFill>
                  <a:srgbClr val="F8FAFC"/>
                </a:solidFill>
              </a:defRPr>
            </a:pPr>
            <a:endParaRPr/>
          </a:p>
          <a:p>
            <a:pPr>
              <a:spcAft>
                <a:spcPts val="800"/>
              </a:spcAft>
              <a:defRPr sz="1200">
                <a:solidFill>
                  <a:srgbClr val="F8FAFC"/>
                </a:solidFill>
              </a:defRPr>
            </a:pPr>
            <a:r>
              <a:t>✅ Senior Action Taken:</a:t>
            </a:r>
          </a:p>
          <a:p>
            <a:pPr>
              <a:spcAft>
                <a:spcPts val="800"/>
              </a:spcAft>
              <a:defRPr sz="1200">
                <a:solidFill>
                  <a:srgbClr val="F8FAFC"/>
                </a:solidFill>
              </a:defRPr>
            </a:pPr>
            <a:r>
              <a:t>   e.g. 'Senior selected: Alert Family / End Call'.</a:t>
            </a:r>
          </a:p>
          <a:p>
            <a:pPr>
              <a:spcAft>
                <a:spcPts val="800"/>
              </a:spcAft>
              <a:defRPr sz="1200">
                <a:solidFill>
                  <a:srgbClr val="F8FAFC"/>
                </a:solidFill>
              </a:defRPr>
            </a:pPr>
            <a:endParaRPr/>
          </a:p>
          <a:p>
            <a:pPr>
              <a:spcAft>
                <a:spcPts val="800"/>
              </a:spcAft>
              <a:defRPr sz="1200">
                <a:solidFill>
                  <a:srgbClr val="F8FAFC"/>
                </a:solidFill>
              </a:defRPr>
            </a:pPr>
            <a:r>
              <a:t>✅ Mutual Dual-Consent Authorization:</a:t>
            </a:r>
          </a:p>
          <a:p>
            <a:pPr>
              <a:spcAft>
                <a:spcPts val="800"/>
              </a:spcAft>
              <a:defRPr sz="1200">
                <a:solidFill>
                  <a:srgbClr val="F8FAFC"/>
                </a:solidFill>
              </a:defRPr>
            </a:pPr>
            <a:r>
              <a:t>   Strictly requires mutual invite acceptance.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defRPr>
            </a:pPr>
            <a:r>
              <a:t>ENGINEERING RIGOR</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600" b="1">
                <a:solidFill>
                  <a:srgbClr val="F8FAFC"/>
                </a:solidFill>
              </a:defRPr>
            </a:pPr>
            <a:r>
              <a:t>Technical Stack &amp; Production Hardening</a:t>
            </a:r>
          </a:p>
        </p:txBody>
      </p:sp>
      <p:sp>
        <p:nvSpPr>
          <p:cNvPr id="5" name="TextBox 4"/>
          <p:cNvSpPr txBox="1"/>
          <p:nvPr/>
        </p:nvSpPr>
        <p:spPr>
          <a:xfrm>
            <a:off x="731520" y="1325880"/>
            <a:ext cx="10698480" cy="365760"/>
          </a:xfrm>
          <a:prstGeom prst="rect">
            <a:avLst/>
          </a:prstGeom>
          <a:noFill/>
        </p:spPr>
        <p:txBody>
          <a:bodyPr wrap="square" lIns="0" tIns="0" rIns="0" bIns="0">
            <a:spAutoFit/>
          </a:bodyPr>
          <a:lstStyle/>
          <a:p>
            <a:pPr>
              <a:defRPr sz="1400">
                <a:solidFill>
                  <a:srgbClr val="94A3B8"/>
                </a:solidFill>
              </a:defRPr>
            </a:pPr>
            <a:r>
              <a:t>Modular mobile client architecture with 223 passing automated tests.</a:t>
            </a:r>
          </a:p>
        </p:txBody>
      </p:sp>
      <p:sp>
        <p:nvSpPr>
          <p:cNvPr id="6" name="Rounded Rectangle 5"/>
          <p:cNvSpPr/>
          <p:nvPr/>
        </p:nvSpPr>
        <p:spPr>
          <a:xfrm>
            <a:off x="731520" y="2011680"/>
            <a:ext cx="5120640" cy="192024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94560"/>
            <a:ext cx="4663440" cy="1554480"/>
          </a:xfrm>
          <a:prstGeom prst="rect">
            <a:avLst/>
          </a:prstGeom>
          <a:noFill/>
        </p:spPr>
        <p:txBody>
          <a:bodyPr wrap="square" lIns="0" tIns="0" rIns="0" bIns="0">
            <a:spAutoFit/>
          </a:bodyPr>
          <a:lstStyle/>
          <a:p>
            <a:pPr>
              <a:spcAft>
                <a:spcPts val="1000"/>
              </a:spcAft>
              <a:defRPr sz="1600" b="1">
                <a:solidFill>
                  <a:srgbClr val="38BDF8"/>
                </a:solidFill>
              </a:defRPr>
            </a:pPr>
            <a:r>
              <a:t>📱 Mobile Client (Frontend)</a:t>
            </a:r>
          </a:p>
          <a:p>
            <a:pPr>
              <a:spcAft>
                <a:spcPts val="800"/>
              </a:spcAft>
              <a:defRPr sz="1200">
                <a:solidFill>
                  <a:srgbClr val="F8FAFC"/>
                </a:solidFill>
              </a:defRPr>
            </a:pPr>
            <a:r>
              <a:t>• Flutter 3.x / Dart 3.x (Material 3)</a:t>
            </a:r>
          </a:p>
          <a:p>
            <a:pPr>
              <a:spcAft>
                <a:spcPts val="800"/>
              </a:spcAft>
              <a:defRPr sz="1200">
                <a:solidFill>
                  <a:srgbClr val="F8FAFC"/>
                </a:solidFill>
              </a:defRPr>
            </a:pPr>
            <a:r>
              <a:t>• Custom Accessible Primitives (GlassCard, RiskBadge)</a:t>
            </a:r>
          </a:p>
          <a:p>
            <a:pPr>
              <a:spcAft>
                <a:spcPts val="800"/>
              </a:spcAft>
              <a:defRPr sz="1200">
                <a:solidFill>
                  <a:srgbClr val="F8FAFC"/>
                </a:solidFill>
              </a:defRPr>
            </a:pPr>
            <a:r>
              <a:t>• Native Reduce Motion support &amp; large touch targets</a:t>
            </a:r>
          </a:p>
        </p:txBody>
      </p:sp>
      <p:sp>
        <p:nvSpPr>
          <p:cNvPr id="8" name="Rounded Rectangle 7"/>
          <p:cNvSpPr/>
          <p:nvPr/>
        </p:nvSpPr>
        <p:spPr>
          <a:xfrm>
            <a:off x="6217920" y="2011680"/>
            <a:ext cx="5120640" cy="192024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46520" y="2194560"/>
            <a:ext cx="4663440" cy="1554480"/>
          </a:xfrm>
          <a:prstGeom prst="rect">
            <a:avLst/>
          </a:prstGeom>
          <a:noFill/>
        </p:spPr>
        <p:txBody>
          <a:bodyPr wrap="square" lIns="0" tIns="0" rIns="0" bIns="0">
            <a:spAutoFit/>
          </a:bodyPr>
          <a:lstStyle/>
          <a:p>
            <a:pPr>
              <a:spcAft>
                <a:spcPts val="1000"/>
              </a:spcAft>
              <a:defRPr sz="1600" b="1">
                <a:solidFill>
                  <a:srgbClr val="38BDF8"/>
                </a:solidFill>
              </a:defRPr>
            </a:pPr>
            <a:r>
              <a:t>🧠 Detection Engine (3 Modes)</a:t>
            </a:r>
          </a:p>
          <a:p>
            <a:pPr>
              <a:spcAft>
                <a:spcPts val="800"/>
              </a:spcAft>
              <a:defRPr sz="1200">
                <a:solidFill>
                  <a:srgbClr val="F8FAFC"/>
                </a:solidFill>
              </a:defRPr>
            </a:pPr>
            <a:r>
              <a:t>• Mode 1: In-memory Heuristic Mock Engine (Offline demos)</a:t>
            </a:r>
          </a:p>
          <a:p>
            <a:pPr>
              <a:spcAft>
                <a:spcPts val="800"/>
              </a:spcAft>
              <a:defRPr sz="1200">
                <a:solidFill>
                  <a:srgbClr val="F8FAFC"/>
                </a:solidFill>
              </a:defRPr>
            </a:pPr>
            <a:r>
              <a:t>• Mode 2: Edge Function Proxy (Supabase Serverless)</a:t>
            </a:r>
          </a:p>
          <a:p>
            <a:pPr>
              <a:spcAft>
                <a:spcPts val="800"/>
              </a:spcAft>
              <a:defRPr sz="1200">
                <a:solidFill>
                  <a:srgbClr val="F8FAFC"/>
                </a:solidFill>
              </a:defRPr>
            </a:pPr>
            <a:r>
              <a:t>• Mode 3: Direct Dev Mode (Gemini 1.5 Flash / GPT-4o-mini)</a:t>
            </a:r>
          </a:p>
        </p:txBody>
      </p:sp>
      <p:sp>
        <p:nvSpPr>
          <p:cNvPr id="10" name="Rounded Rectangle 9"/>
          <p:cNvSpPr/>
          <p:nvPr/>
        </p:nvSpPr>
        <p:spPr>
          <a:xfrm>
            <a:off x="731520" y="4206240"/>
            <a:ext cx="5120640" cy="192024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4389120"/>
            <a:ext cx="4663440" cy="1554480"/>
          </a:xfrm>
          <a:prstGeom prst="rect">
            <a:avLst/>
          </a:prstGeom>
          <a:noFill/>
        </p:spPr>
        <p:txBody>
          <a:bodyPr wrap="square" lIns="0" tIns="0" rIns="0" bIns="0">
            <a:spAutoFit/>
          </a:bodyPr>
          <a:lstStyle/>
          <a:p>
            <a:pPr>
              <a:spcAft>
                <a:spcPts val="1000"/>
              </a:spcAft>
              <a:defRPr sz="1600" b="1">
                <a:solidFill>
                  <a:srgbClr val="38BDF8"/>
                </a:solidFill>
              </a:defRPr>
            </a:pPr>
            <a:r>
              <a:t>☁️ Backend &amp; Security</a:t>
            </a:r>
          </a:p>
          <a:p>
            <a:pPr>
              <a:spcAft>
                <a:spcPts val="800"/>
              </a:spcAft>
              <a:defRPr sz="1200">
                <a:solidFill>
                  <a:srgbClr val="F8FAFC"/>
                </a:solidFill>
              </a:defRPr>
            </a:pPr>
            <a:r>
              <a:t>• Supabase Auth &amp; PostgreSQL database schema</a:t>
            </a:r>
          </a:p>
          <a:p>
            <a:pPr>
              <a:spcAft>
                <a:spcPts val="800"/>
              </a:spcAft>
              <a:defRPr sz="1200">
                <a:solidFill>
                  <a:srgbClr val="F8FAFC"/>
                </a:solidFill>
              </a:defRPr>
            </a:pPr>
            <a:r>
              <a:t>• Row Level Security (RLS) enforcing mutual family ties</a:t>
            </a:r>
          </a:p>
          <a:p>
            <a:pPr>
              <a:spcAft>
                <a:spcPts val="800"/>
              </a:spcAft>
              <a:defRPr sz="1200">
                <a:solidFill>
                  <a:srgbClr val="F8FAFC"/>
                </a:solidFill>
              </a:defRPr>
            </a:pPr>
            <a:r>
              <a:t>• Provider-neutral NotificationService architecture</a:t>
            </a:r>
          </a:p>
        </p:txBody>
      </p:sp>
      <p:sp>
        <p:nvSpPr>
          <p:cNvPr id="12" name="Rounded Rectangle 11"/>
          <p:cNvSpPr/>
          <p:nvPr/>
        </p:nvSpPr>
        <p:spPr>
          <a:xfrm>
            <a:off x="6217920" y="4206240"/>
            <a:ext cx="5120640" cy="192024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4389120"/>
            <a:ext cx="4663440" cy="1554480"/>
          </a:xfrm>
          <a:prstGeom prst="rect">
            <a:avLst/>
          </a:prstGeom>
          <a:noFill/>
        </p:spPr>
        <p:txBody>
          <a:bodyPr wrap="square" lIns="0" tIns="0" rIns="0" bIns="0">
            <a:spAutoFit/>
          </a:bodyPr>
          <a:lstStyle/>
          <a:p>
            <a:pPr>
              <a:spcAft>
                <a:spcPts val="1000"/>
              </a:spcAft>
              <a:defRPr sz="1600" b="1">
                <a:solidFill>
                  <a:srgbClr val="34D399"/>
                </a:solidFill>
              </a:defRPr>
            </a:pPr>
            <a:r>
              <a:t>✅ Testing &amp; Verification</a:t>
            </a:r>
          </a:p>
          <a:p>
            <a:pPr>
              <a:spcAft>
                <a:spcPts val="800"/>
              </a:spcAft>
              <a:defRPr sz="1200">
                <a:solidFill>
                  <a:srgbClr val="F8FAFC"/>
                </a:solidFill>
              </a:defRPr>
            </a:pPr>
            <a:r>
              <a:t>• 223 / 223 automated tests passing in Flutter test suite</a:t>
            </a:r>
          </a:p>
          <a:p>
            <a:pPr>
              <a:spcAft>
                <a:spcPts val="800"/>
              </a:spcAft>
              <a:defRPr sz="1200">
                <a:solidFill>
                  <a:srgbClr val="F8FAFC"/>
                </a:solidFill>
              </a:defRPr>
            </a:pPr>
            <a:r>
              <a:t>• Zero dangerous runtime permissions in AndroidManifest</a:t>
            </a:r>
          </a:p>
          <a:p>
            <a:pPr>
              <a:spcAft>
                <a:spcPts val="800"/>
              </a:spcAft>
              <a:defRPr sz="1200">
                <a:solidFill>
                  <a:srgbClr val="F8FAFC"/>
                </a:solidFill>
              </a:defRPr>
            </a:pPr>
            <a:r>
              <a:t>• AppLogger scrubbing credentials and sensitive tokens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100" b="1">
                <a:solidFill>
                  <a:srgbClr val="38BDF8"/>
                </a:solidFill>
              </a:defRPr>
            </a:pPr>
            <a:r>
              <a:t>FUTURE ROADMAP</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600" b="1">
                <a:solidFill>
                  <a:srgbClr val="F8FAFC"/>
                </a:solidFill>
              </a:defRPr>
            </a:pPr>
            <a:r>
              <a:t>Real-World Viability &amp; Future Roadmap</a:t>
            </a:r>
          </a:p>
        </p:txBody>
      </p:sp>
      <p:sp>
        <p:nvSpPr>
          <p:cNvPr id="5" name="TextBox 4"/>
          <p:cNvSpPr txBox="1"/>
          <p:nvPr/>
        </p:nvSpPr>
        <p:spPr>
          <a:xfrm>
            <a:off x="731520" y="1325880"/>
            <a:ext cx="10698480" cy="365760"/>
          </a:xfrm>
          <a:prstGeom prst="rect">
            <a:avLst/>
          </a:prstGeom>
          <a:noFill/>
        </p:spPr>
        <p:txBody>
          <a:bodyPr wrap="square" lIns="0" tIns="0" rIns="0" bIns="0">
            <a:spAutoFit/>
          </a:bodyPr>
          <a:lstStyle/>
          <a:p>
            <a:pPr>
              <a:defRPr sz="1400">
                <a:solidFill>
                  <a:srgbClr val="94A3B8"/>
                </a:solidFill>
              </a:defRPr>
            </a:pPr>
            <a:r>
              <a:t>Bridging hackathon prototype to nationwide telecom and consumer protection.</a:t>
            </a:r>
          </a:p>
        </p:txBody>
      </p:sp>
      <p:sp>
        <p:nvSpPr>
          <p:cNvPr id="6" name="Rounded Rectangle 5"/>
          <p:cNvSpPr/>
          <p:nvPr/>
        </p:nvSpPr>
        <p:spPr>
          <a:xfrm>
            <a:off x="731520" y="2011680"/>
            <a:ext cx="3291840" cy="41148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94560"/>
            <a:ext cx="2834640" cy="3749040"/>
          </a:xfrm>
          <a:prstGeom prst="rect">
            <a:avLst/>
          </a:prstGeom>
          <a:noFill/>
        </p:spPr>
        <p:txBody>
          <a:bodyPr wrap="square" lIns="0" tIns="0" rIns="0" bIns="0">
            <a:spAutoFit/>
          </a:bodyPr>
          <a:lstStyle/>
          <a:p>
            <a:pPr>
              <a:spcAft>
                <a:spcPts val="1000"/>
              </a:spcAft>
              <a:defRPr sz="1600" b="1">
                <a:solidFill>
                  <a:srgbClr val="38BDF8"/>
                </a:solidFill>
              </a:defRPr>
            </a:pPr>
            <a:r>
              <a:t>📍 Phase 1: Prototype (Today)</a:t>
            </a:r>
          </a:p>
          <a:p>
            <a:pPr>
              <a:spcAft>
                <a:spcPts val="800"/>
              </a:spcAft>
              <a:defRPr sz="1200">
                <a:solidFill>
                  <a:srgbClr val="F8FAFC"/>
                </a:solidFill>
              </a:defRPr>
            </a:pPr>
            <a:r>
              <a:t>• Standalone Flutter Android client.</a:t>
            </a:r>
          </a:p>
          <a:p>
            <a:pPr>
              <a:spcAft>
                <a:spcPts val="800"/>
              </a:spcAft>
              <a:defRPr sz="1200">
                <a:solidFill>
                  <a:srgbClr val="F8FAFC"/>
                </a:solidFill>
              </a:defRPr>
            </a:pPr>
            <a:r>
              <a:t>• Deterministic 5-scenario Demo Center.</a:t>
            </a:r>
          </a:p>
          <a:p>
            <a:pPr>
              <a:spcAft>
                <a:spcPts val="800"/>
              </a:spcAft>
              <a:defRPr sz="1200">
                <a:solidFill>
                  <a:srgbClr val="F8FAFC"/>
                </a:solidFill>
              </a:defRPr>
            </a:pPr>
            <a:r>
              <a:t>• Multi-turn heuristic scam engine.</a:t>
            </a:r>
          </a:p>
          <a:p>
            <a:pPr>
              <a:spcAft>
                <a:spcPts val="800"/>
              </a:spcAft>
              <a:defRPr sz="1200">
                <a:solidFill>
                  <a:srgbClr val="F8FAFC"/>
                </a:solidFill>
              </a:defRPr>
            </a:pPr>
            <a:r>
              <a:t>• Privacy-first Family Circle escalation.</a:t>
            </a:r>
          </a:p>
          <a:p>
            <a:pPr>
              <a:spcAft>
                <a:spcPts val="800"/>
              </a:spcAft>
              <a:defRPr sz="1200">
                <a:solidFill>
                  <a:srgbClr val="F8FAFC"/>
                </a:solidFill>
              </a:defRPr>
            </a:pPr>
            <a:r>
              <a:t>• 223/223 automated tests passing.</a:t>
            </a:r>
          </a:p>
        </p:txBody>
      </p:sp>
      <p:sp>
        <p:nvSpPr>
          <p:cNvPr id="8" name="Rounded Rectangle 7"/>
          <p:cNvSpPr/>
          <p:nvPr/>
        </p:nvSpPr>
        <p:spPr>
          <a:xfrm>
            <a:off x="4389120" y="2011680"/>
            <a:ext cx="3291840" cy="41148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17720" y="2194560"/>
            <a:ext cx="2834640" cy="3749040"/>
          </a:xfrm>
          <a:prstGeom prst="rect">
            <a:avLst/>
          </a:prstGeom>
          <a:noFill/>
        </p:spPr>
        <p:txBody>
          <a:bodyPr wrap="square" lIns="0" tIns="0" rIns="0" bIns="0">
            <a:spAutoFit/>
          </a:bodyPr>
          <a:lstStyle/>
          <a:p>
            <a:pPr>
              <a:spcAft>
                <a:spcPts val="1000"/>
              </a:spcAft>
              <a:defRPr sz="1600" b="1">
                <a:solidFill>
                  <a:srgbClr val="FB923C"/>
                </a:solidFill>
              </a:defRPr>
            </a:pPr>
            <a:r>
              <a:t>⚡ Phase 2: On-Device SLMs</a:t>
            </a:r>
          </a:p>
          <a:p>
            <a:pPr>
              <a:spcAft>
                <a:spcPts val="800"/>
              </a:spcAft>
              <a:defRPr sz="1200">
                <a:solidFill>
                  <a:srgbClr val="F8FAFC"/>
                </a:solidFill>
              </a:defRPr>
            </a:pPr>
            <a:r>
              <a:t>• Local Small Language Models (SLMs) via MediaPipe / ONNX.</a:t>
            </a:r>
          </a:p>
          <a:p>
            <a:pPr>
              <a:spcAft>
                <a:spcPts val="800"/>
              </a:spcAft>
              <a:defRPr sz="1200">
                <a:solidFill>
                  <a:srgbClr val="F8FAFC"/>
                </a:solidFill>
              </a:defRPr>
            </a:pPr>
            <a:r>
              <a:t>• 100% offline, zero-latency on-device reasoning.</a:t>
            </a:r>
          </a:p>
          <a:p>
            <a:pPr>
              <a:spcAft>
                <a:spcPts val="800"/>
              </a:spcAft>
              <a:defRPr sz="1200">
                <a:solidFill>
                  <a:srgbClr val="F8FAFC"/>
                </a:solidFill>
              </a:defRPr>
            </a:pPr>
            <a:r>
              <a:t>• Multi-lingual Indian dialect support (Hindi, Telugu, Tamil, Marathi).</a:t>
            </a:r>
          </a:p>
          <a:p>
            <a:pPr>
              <a:spcAft>
                <a:spcPts val="800"/>
              </a:spcAft>
              <a:defRPr sz="1200">
                <a:solidFill>
                  <a:srgbClr val="F8FAFC"/>
                </a:solidFill>
              </a:defRPr>
            </a:pPr>
            <a:r>
              <a:t>• Voice biometrics for impersonation detection.</a:t>
            </a:r>
          </a:p>
        </p:txBody>
      </p:sp>
      <p:sp>
        <p:nvSpPr>
          <p:cNvPr id="10" name="Rounded Rectangle 9"/>
          <p:cNvSpPr/>
          <p:nvPr/>
        </p:nvSpPr>
        <p:spPr>
          <a:xfrm>
            <a:off x="8046720" y="2011680"/>
            <a:ext cx="3291840" cy="411480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2194560"/>
            <a:ext cx="2834640" cy="3749040"/>
          </a:xfrm>
          <a:prstGeom prst="rect">
            <a:avLst/>
          </a:prstGeom>
          <a:noFill/>
        </p:spPr>
        <p:txBody>
          <a:bodyPr wrap="square" lIns="0" tIns="0" rIns="0" bIns="0">
            <a:spAutoFit/>
          </a:bodyPr>
          <a:lstStyle/>
          <a:p>
            <a:pPr>
              <a:spcAft>
                <a:spcPts val="1000"/>
              </a:spcAft>
              <a:defRPr sz="1600" b="1">
                <a:solidFill>
                  <a:srgbClr val="34D399"/>
                </a:solidFill>
              </a:defRPr>
            </a:pPr>
            <a:r>
              <a:t>🌐 Phase 3: Telco Partnerships</a:t>
            </a:r>
          </a:p>
          <a:p>
            <a:pPr>
              <a:spcAft>
                <a:spcPts val="800"/>
              </a:spcAft>
              <a:defRPr sz="1200">
                <a:solidFill>
                  <a:srgbClr val="F8FAFC"/>
                </a:solidFill>
              </a:defRPr>
            </a:pPr>
            <a:r>
              <a:t>• Integration with telecom carriers (Airtel, Jio, etc.) for native network-level shielding.</a:t>
            </a:r>
          </a:p>
          <a:p>
            <a:pPr>
              <a:spcAft>
                <a:spcPts val="800"/>
              </a:spcAft>
              <a:defRPr sz="1200">
                <a:solidFill>
                  <a:srgbClr val="F8FAFC"/>
                </a:solidFill>
              </a:defRPr>
            </a:pPr>
            <a:r>
              <a:t>• Hardware-agnostic VoIP dialer integration.</a:t>
            </a:r>
          </a:p>
          <a:p>
            <a:pPr>
              <a:spcAft>
                <a:spcPts val="800"/>
              </a:spcAft>
              <a:defRPr sz="1200">
                <a:solidFill>
                  <a:srgbClr val="F8FAFC"/>
                </a:solidFill>
              </a:defRPr>
            </a:pPr>
            <a:r>
              <a:t>• National Cybercrime Reporting Portal (NCRP) one-tap incident forwarding.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731520"/>
            <a:ext cx="9418320" cy="2011680"/>
          </a:xfrm>
          <a:prstGeom prst="rect">
            <a:avLst/>
          </a:prstGeom>
          <a:noFill/>
        </p:spPr>
        <p:txBody>
          <a:bodyPr wrap="square">
            <a:spAutoFit/>
          </a:bodyPr>
          <a:lstStyle/>
          <a:p>
            <a:pPr algn="ctr">
              <a:defRPr sz="3200" b="1">
                <a:solidFill>
                  <a:srgbClr val="38BDF8"/>
                </a:solidFill>
              </a:defRPr>
            </a:pPr>
            <a:r>
              <a:t>GuardCall: Restoring Confidence in Every Call</a:t>
            </a:r>
          </a:p>
          <a:p>
            <a:pPr algn="ctr">
              <a:spcBef>
                <a:spcPts val="800"/>
              </a:spcBef>
              <a:defRPr sz="1600">
                <a:solidFill>
                  <a:srgbClr val="94A3B8"/>
                </a:solidFill>
              </a:defRPr>
            </a:pPr>
            <a:r>
              <a:t>Seniors should never have to fear answering their phones, and families shouldn't have to worry.</a:t>
            </a:r>
          </a:p>
        </p:txBody>
      </p:sp>
      <p:sp>
        <p:nvSpPr>
          <p:cNvPr id="4" name="Rounded Rectangle 3"/>
          <p:cNvSpPr/>
          <p:nvPr/>
        </p:nvSpPr>
        <p:spPr>
          <a:xfrm>
            <a:off x="1097280" y="2743200"/>
            <a:ext cx="3017520" cy="237744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25880" y="2926080"/>
            <a:ext cx="2560320" cy="2011680"/>
          </a:xfrm>
          <a:prstGeom prst="rect">
            <a:avLst/>
          </a:prstGeom>
          <a:noFill/>
        </p:spPr>
        <p:txBody>
          <a:bodyPr wrap="square" lIns="0" tIns="0" rIns="0" bIns="0">
            <a:spAutoFit/>
          </a:bodyPr>
          <a:lstStyle/>
          <a:p>
            <a:pPr>
              <a:spcAft>
                <a:spcPts val="1000"/>
              </a:spcAft>
              <a:defRPr sz="1600" b="1">
                <a:solidFill>
                  <a:srgbClr val="38BDF8"/>
                </a:solidFill>
              </a:defRPr>
            </a:pPr>
            <a:r>
              <a:t>🛡️ Proactive Defense</a:t>
            </a:r>
          </a:p>
          <a:p>
            <a:pPr>
              <a:spcAft>
                <a:spcPts val="800"/>
              </a:spcAft>
              <a:defRPr sz="1200">
                <a:solidFill>
                  <a:srgbClr val="F8FAFC"/>
                </a:solidFill>
              </a:defRPr>
            </a:pPr>
            <a:r>
              <a:t>Detects psychological coercion dynamically before money is transferred.</a:t>
            </a:r>
          </a:p>
        </p:txBody>
      </p:sp>
      <p:sp>
        <p:nvSpPr>
          <p:cNvPr id="6" name="Rounded Rectangle 5"/>
          <p:cNvSpPr/>
          <p:nvPr/>
        </p:nvSpPr>
        <p:spPr>
          <a:xfrm>
            <a:off x="4572000" y="2743200"/>
            <a:ext cx="3017520" cy="237744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00600" y="2926080"/>
            <a:ext cx="2560320" cy="2011680"/>
          </a:xfrm>
          <a:prstGeom prst="rect">
            <a:avLst/>
          </a:prstGeom>
          <a:noFill/>
        </p:spPr>
        <p:txBody>
          <a:bodyPr wrap="square" lIns="0" tIns="0" rIns="0" bIns="0">
            <a:spAutoFit/>
          </a:bodyPr>
          <a:lstStyle/>
          <a:p>
            <a:pPr>
              <a:spcAft>
                <a:spcPts val="1000"/>
              </a:spcAft>
              <a:defRPr sz="1600" b="1">
                <a:solidFill>
                  <a:srgbClr val="34D399"/>
                </a:solidFill>
              </a:defRPr>
            </a:pPr>
            <a:r>
              <a:t>🔒 Absolute Privacy</a:t>
            </a:r>
          </a:p>
          <a:p>
            <a:pPr>
              <a:spcAft>
                <a:spcPts val="800"/>
              </a:spcAft>
              <a:defRPr sz="1200">
                <a:solidFill>
                  <a:srgbClr val="F8FAFC"/>
                </a:solidFill>
              </a:defRPr>
            </a:pPr>
            <a:r>
              <a:t>Zero audio recorded, zero transcripts saved. 100% privacy by design.</a:t>
            </a:r>
          </a:p>
        </p:txBody>
      </p:sp>
      <p:sp>
        <p:nvSpPr>
          <p:cNvPr id="8" name="Rounded Rectangle 7"/>
          <p:cNvSpPr/>
          <p:nvPr/>
        </p:nvSpPr>
        <p:spPr>
          <a:xfrm>
            <a:off x="8046720" y="2743200"/>
            <a:ext cx="3017520" cy="2377440"/>
          </a:xfrm>
          <a:prstGeom prst="roundRect">
            <a:avLst/>
          </a:prstGeom>
          <a:solidFill>
            <a:srgbClr val="1C2541"/>
          </a:solidFill>
          <a:ln w="19050">
            <a:solidFill>
              <a:srgbClr val="3A50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75320" y="2926080"/>
            <a:ext cx="2560320" cy="2011680"/>
          </a:xfrm>
          <a:prstGeom prst="rect">
            <a:avLst/>
          </a:prstGeom>
          <a:noFill/>
        </p:spPr>
        <p:txBody>
          <a:bodyPr wrap="square" lIns="0" tIns="0" rIns="0" bIns="0">
            <a:spAutoFit/>
          </a:bodyPr>
          <a:lstStyle/>
          <a:p>
            <a:pPr>
              <a:spcAft>
                <a:spcPts val="1000"/>
              </a:spcAft>
              <a:defRPr sz="1600" b="1">
                <a:solidFill>
                  <a:srgbClr val="FB923C"/>
                </a:solidFill>
              </a:defRPr>
            </a:pPr>
            <a:r>
              <a:t>👨‍👩‍👧 Family Connected</a:t>
            </a:r>
          </a:p>
          <a:p>
            <a:pPr>
              <a:spcAft>
                <a:spcPts val="800"/>
              </a:spcAft>
              <a:defRPr sz="1200">
                <a:solidFill>
                  <a:srgbClr val="F8FAFC"/>
                </a:solidFill>
              </a:defRPr>
            </a:pPr>
            <a:r>
              <a:t>Empowers elders with an instant safety bridge to their trusted caregivers.</a:t>
            </a:r>
          </a:p>
        </p:txBody>
      </p:sp>
      <p:sp>
        <p:nvSpPr>
          <p:cNvPr id="10" name="Rounded Rectangle 9"/>
          <p:cNvSpPr/>
          <p:nvPr/>
        </p:nvSpPr>
        <p:spPr>
          <a:xfrm>
            <a:off x="1371600" y="5486400"/>
            <a:ext cx="9418320" cy="822960"/>
          </a:xfrm>
          <a:prstGeom prst="roundRect">
            <a:avLst/>
          </a:prstGeom>
          <a:solidFill>
            <a:srgbClr val="1C2541"/>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defRPr sz="1500" b="1">
                <a:solidFill>
                  <a:srgbClr val="F8FAFC"/>
                </a:solidFill>
              </a:defRPr>
            </a:pPr>
            <a:r>
              <a:t>✨ READY FOR LIVE DEMONSTRATION IN THE DEMO CENTER — 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1765</Words>
  <Application>Microsoft Office PowerPoint</Application>
  <PresentationFormat>Widescreen</PresentationFormat>
  <Paragraphs>163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Venu Pinninti</cp:lastModifiedBy>
  <cp:revision>1</cp:revision>
  <dcterms:created xsi:type="dcterms:W3CDTF">2013-01-27T09:14:16Z</dcterms:created>
  <dcterms:modified xsi:type="dcterms:W3CDTF">2026-10-10T04:55:58Z</dcterms:modified>
  <cp:category/>
</cp:coreProperties>
</file>